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2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328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Desenvolvimento Rápido com Soluções de IA — Aula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 err="1">
                <a:solidFill>
                  <a:srgbClr val="3498DB"/>
                </a:solidFill>
                <a:latin typeface="Calibri"/>
              </a:rPr>
              <a:t>Instrutor</a:t>
            </a:r>
            <a:r>
              <a:rPr sz="2000" b="0" dirty="0">
                <a:solidFill>
                  <a:srgbClr val="3498DB"/>
                </a:solidFill>
                <a:latin typeface="Calibri"/>
              </a:rPr>
              <a:t>: </a:t>
            </a:r>
            <a:r>
              <a:rPr lang="en-US" sz="2000" b="0" dirty="0">
                <a:solidFill>
                  <a:srgbClr val="3498DB"/>
                </a:solidFill>
                <a:latin typeface="Calibri"/>
              </a:rPr>
              <a:t>Lucas de Carli</a:t>
            </a:r>
            <a:endParaRPr sz="2000" b="0" dirty="0">
              <a:solidFill>
                <a:srgbClr val="3498D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FFFFFF"/>
                </a:solidFill>
                <a:latin typeface="Calibri"/>
              </a:rPr>
              <a:t>"A IA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substitui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o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desenvolvedor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ela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amplifica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o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ele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já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sabe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fazer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Agenda da Aula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Bloco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89432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Abertura e Contexto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432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Fundamentos de LLMs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432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Panorama de Ferramentas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432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GitHub Copilot na Prática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432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Python + Copilot: Automação Bancária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432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Lab Prático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432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86480"/>
            <a:ext cx="1088136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Objetivo</a:t>
            </a:r>
            <a:r>
              <a:rPr sz="1500" b="0">
                <a:solidFill>
                  <a:srgbClr val="4A4A4A"/>
                </a:solidFill>
                <a:latin typeface="Calibri"/>
              </a:rPr>
              <a:t>: Sair desta aula usando IA para escrever código Python real, com confiança e senso crítico.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é Desenvolvimento Assistido por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É o uso de ferramentas de inteligência artificial como </a:t>
            </a:r>
            <a:r>
              <a:rPr sz="1600" b="1">
                <a:solidFill>
                  <a:srgbClr val="1B3A5C"/>
                </a:solidFill>
                <a:latin typeface="Calibri"/>
              </a:rPr>
              <a:t>parceiras</a:t>
            </a:r>
            <a:r>
              <a:rPr sz="1600" b="0">
                <a:solidFill>
                  <a:srgbClr val="4A4A4A"/>
                </a:solidFill>
                <a:latin typeface="Calibri"/>
              </a:rPr>
              <a:t> no processo de desenvolvimento de software.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A IA </a:t>
            </a:r>
            <a:r>
              <a:rPr sz="1600" b="1">
                <a:solidFill>
                  <a:srgbClr val="1B3A5C"/>
                </a:solidFill>
                <a:latin typeface="Calibri"/>
              </a:rPr>
              <a:t>sugere</a:t>
            </a:r>
            <a:r>
              <a:rPr sz="1600" b="0">
                <a:solidFill>
                  <a:srgbClr val="4A4A4A"/>
                </a:solidFill>
                <a:latin typeface="Calibri"/>
              </a:rPr>
              <a:t> código enquanto você digita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A IA </a:t>
            </a:r>
            <a:r>
              <a:rPr sz="1600" b="1">
                <a:solidFill>
                  <a:srgbClr val="1B3A5C"/>
                </a:solidFill>
                <a:latin typeface="Calibri"/>
              </a:rPr>
              <a:t>explica</a:t>
            </a:r>
            <a:r>
              <a:rPr sz="1600" b="0">
                <a:solidFill>
                  <a:srgbClr val="4A4A4A"/>
                </a:solidFill>
                <a:latin typeface="Calibri"/>
              </a:rPr>
              <a:t> trechos de código que você não entende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A IA </a:t>
            </a:r>
            <a:r>
              <a:rPr sz="1600" b="1">
                <a:solidFill>
                  <a:srgbClr val="1B3A5C"/>
                </a:solidFill>
                <a:latin typeface="Calibri"/>
              </a:rPr>
              <a:t>gera</a:t>
            </a:r>
            <a:r>
              <a:rPr sz="1600" b="0">
                <a:solidFill>
                  <a:srgbClr val="4A4A4A"/>
                </a:solidFill>
                <a:latin typeface="Calibri"/>
              </a:rPr>
              <a:t> testes, documentação e até consultas SQL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A IA </a:t>
            </a:r>
            <a:r>
              <a:rPr sz="1600" b="1">
                <a:solidFill>
                  <a:srgbClr val="1B3A5C"/>
                </a:solidFill>
                <a:latin typeface="Calibri"/>
              </a:rPr>
              <a:t>encontra</a:t>
            </a:r>
            <a:r>
              <a:rPr sz="1600" b="0">
                <a:solidFill>
                  <a:srgbClr val="4A4A4A"/>
                </a:solidFill>
                <a:latin typeface="Calibri"/>
              </a:rPr>
              <a:t> bugs e sugere correções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Analogia simples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Pense em um co-piloto num avião: ele ajuda, sugere rotas e monitora instrumentos — mas o piloto (você) toma as decisões e mantém o controle.</a:t>
            </a:r>
          </a:p>
          <a:p>
            <a:pPr>
              <a:spcBef>
                <a:spcPts val="100"/>
              </a:spcBef>
            </a:pPr>
            <a:endParaRPr sz="1400" b="0" i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Você continua sendo o responsável pelo código.</a:t>
            </a:r>
            <a:r>
              <a:rPr sz="1600" b="0">
                <a:solidFill>
                  <a:srgbClr val="4A4A4A"/>
                </a:solidFill>
                <a:latin typeface="Calibri"/>
              </a:rPr>
              <a:t> A IA é uma ferramenta poderosa, mas não infalível.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Impacto da IA no Mercado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Dados reais que importam: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GitHub Survey 2023</a:t>
            </a:r>
            <a:r>
              <a:rPr sz="1500" b="0">
                <a:solidFill>
                  <a:srgbClr val="4A4A4A"/>
                </a:solidFill>
                <a:latin typeface="Calibri"/>
              </a:rPr>
              <a:t>: desenvolvedores completam tarefas </a:t>
            </a:r>
            <a:r>
              <a:rPr sz="1500" b="1">
                <a:solidFill>
                  <a:srgbClr val="1B3A5C"/>
                </a:solidFill>
                <a:latin typeface="Calibri"/>
              </a:rPr>
              <a:t>55% mais rápido</a:t>
            </a:r>
            <a:r>
              <a:rPr sz="1500" b="0">
                <a:solidFill>
                  <a:srgbClr val="4A4A4A"/>
                </a:solidFill>
                <a:latin typeface="Calibri"/>
              </a:rPr>
              <a:t> com Copilot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Stack Overflow Developer Survey 2024</a:t>
            </a:r>
            <a:r>
              <a:rPr sz="1500" b="0">
                <a:solidFill>
                  <a:srgbClr val="4A4A4A"/>
                </a:solidFill>
                <a:latin typeface="Calibri"/>
              </a:rPr>
              <a:t>: </a:t>
            </a:r>
            <a:r>
              <a:rPr sz="1500" b="1">
                <a:solidFill>
                  <a:srgbClr val="1B3A5C"/>
                </a:solidFill>
                <a:latin typeface="Calibri"/>
              </a:rPr>
              <a:t>76% dos desenvolvedores</a:t>
            </a:r>
            <a:r>
              <a:rPr sz="1500" b="0">
                <a:solidFill>
                  <a:srgbClr val="4A4A4A"/>
                </a:solidFill>
                <a:latin typeface="Calibri"/>
              </a:rPr>
              <a:t> já usam ou planejam usar ferramentas de IA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McKinsey 2024</a:t>
            </a:r>
            <a:r>
              <a:rPr sz="1500" b="0">
                <a:solidFill>
                  <a:srgbClr val="4A4A4A"/>
                </a:solidFill>
                <a:latin typeface="Calibri"/>
              </a:rPr>
              <a:t>: IA generativa pode automatizar até </a:t>
            </a:r>
            <a:r>
              <a:rPr sz="1500" b="1">
                <a:solidFill>
                  <a:srgbClr val="1B3A5C"/>
                </a:solidFill>
                <a:latin typeface="Calibri"/>
              </a:rPr>
              <a:t>30% das horas de trabalho</a:t>
            </a:r>
            <a:r>
              <a:rPr sz="1500" b="0">
                <a:solidFill>
                  <a:srgbClr val="4A4A4A"/>
                </a:solidFill>
                <a:latin typeface="Calibri"/>
              </a:rPr>
              <a:t> em engenharia de software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GitHub</a:t>
            </a:r>
            <a:r>
              <a:rPr sz="1500" b="0">
                <a:solidFill>
                  <a:srgbClr val="4A4A4A"/>
                </a:solidFill>
                <a:latin typeface="Calibri"/>
              </a:rPr>
              <a:t>: desenvolvedores relatam </a:t>
            </a:r>
            <a:r>
              <a:rPr sz="1500" b="1">
                <a:solidFill>
                  <a:srgbClr val="1B3A5C"/>
                </a:solidFill>
                <a:latin typeface="Calibri"/>
              </a:rPr>
              <a:t>74% menos frustração</a:t>
            </a:r>
            <a:r>
              <a:rPr sz="1500" b="0">
                <a:solidFill>
                  <a:srgbClr val="4A4A4A"/>
                </a:solidFill>
                <a:latin typeface="Calibri"/>
              </a:rPr>
              <a:t> em tarefas repetitivas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isso significa para você?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Não é sobre </a:t>
            </a:r>
            <a:r>
              <a:rPr sz="1500" b="1">
                <a:solidFill>
                  <a:srgbClr val="1B3A5C"/>
                </a:solidFill>
                <a:latin typeface="Calibri"/>
              </a:rPr>
              <a:t>perder empregos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é sobre </a:t>
            </a:r>
            <a:r>
              <a:rPr sz="1500" b="1">
                <a:solidFill>
                  <a:srgbClr val="1B3A5C"/>
                </a:solidFill>
                <a:latin typeface="Calibri"/>
              </a:rPr>
              <a:t>mudar a forma de trabalhar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Quem souber usar IA bem terá </a:t>
            </a:r>
            <a:r>
              <a:rPr sz="1500" b="1">
                <a:solidFill>
                  <a:srgbClr val="1B3A5C"/>
                </a:solidFill>
                <a:latin typeface="Calibri"/>
              </a:rPr>
              <a:t>vantagem competitiva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Habilidades como </a:t>
            </a:r>
            <a:r>
              <a:rPr sz="1500" b="1">
                <a:solidFill>
                  <a:srgbClr val="1B3A5C"/>
                </a:solidFill>
                <a:latin typeface="Calibri"/>
              </a:rPr>
              <a:t>pensamento crítico</a:t>
            </a:r>
            <a:r>
              <a:rPr sz="1500" b="0">
                <a:solidFill>
                  <a:srgbClr val="4A4A4A"/>
                </a:solidFill>
                <a:latin typeface="Calibri"/>
              </a:rPr>
              <a:t> e </a:t>
            </a:r>
            <a:r>
              <a:rPr sz="1500" b="1">
                <a:solidFill>
                  <a:srgbClr val="1B3A5C"/>
                </a:solidFill>
                <a:latin typeface="Calibri"/>
              </a:rPr>
              <a:t>revisão de código</a:t>
            </a:r>
            <a:r>
              <a:rPr sz="1500" b="0">
                <a:solidFill>
                  <a:srgbClr val="4A4A4A"/>
                </a:solidFill>
                <a:latin typeface="Calibri"/>
              </a:rPr>
              <a:t> ficam ainda mais importantes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a IA já faz hoje no desenvolvimento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52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1B3A5C"/>
                </a:solidFill>
                <a:latin typeface="Calibri"/>
              </a:rPr>
              <a:t>Gerar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código</a:t>
            </a:r>
            <a:endParaRPr sz="1600" b="1" dirty="0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 dirty="0">
                <a:solidFill>
                  <a:srgbClr val="3498DB"/>
                </a:solidFill>
                <a:latin typeface="Calibri"/>
              </a:rPr>
              <a:t>❝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Você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descreve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o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que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quer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, a IA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escreve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o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código</a:t>
            </a:r>
            <a:endParaRPr sz="1400" b="0" i="1" dirty="0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400" b="0" i="1" dirty="0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 err="1">
                <a:solidFill>
                  <a:srgbClr val="1B3A5C"/>
                </a:solidFill>
                <a:latin typeface="Calibri"/>
              </a:rPr>
              <a:t>Documentar</a:t>
            </a:r>
            <a:endParaRPr sz="1600" b="1" dirty="0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 dirty="0">
                <a:solidFill>
                  <a:srgbClr val="3498DB"/>
                </a:solidFill>
                <a:latin typeface="Calibri"/>
              </a:rPr>
              <a:t>❝ A IA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lê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seu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código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e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gera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docstrings, READMEs e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comentários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explicativos</a:t>
            </a:r>
            <a:endParaRPr sz="1400" b="0" i="1" dirty="0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400" b="0" i="1" dirty="0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 err="1">
                <a:solidFill>
                  <a:srgbClr val="1B3A5C"/>
                </a:solidFill>
                <a:latin typeface="Calibri"/>
              </a:rPr>
              <a:t>Debugar</a:t>
            </a:r>
            <a:endParaRPr sz="1600" b="1" dirty="0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 dirty="0">
                <a:solidFill>
                  <a:srgbClr val="3498DB"/>
                </a:solidFill>
                <a:latin typeface="Calibri"/>
              </a:rPr>
              <a:t>❝ Cole um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erro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e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pergunte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: "o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que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está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errado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?" — a IA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analisa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e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sugere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correção</a:t>
            </a:r>
            <a:endParaRPr sz="1400" b="0" i="1" dirty="0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400" b="0" i="1" dirty="0">
              <a:solidFill>
                <a:srgbClr val="3498D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a IA já faz hoje no desenvolvimento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Criar testes</a:t>
            </a: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A IA gera testes unitários automaticamente a partir do seu código</a:t>
            </a:r>
          </a:p>
          <a:p>
            <a:pPr>
              <a:spcBef>
                <a:spcPts val="100"/>
              </a:spcBef>
            </a:pPr>
            <a:endParaRPr sz="1400" b="0" i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Refatorar</a:t>
            </a: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A IA sugere versões mais limpas e eficientes do seu código</a:t>
            </a:r>
          </a:p>
          <a:p>
            <a:pPr>
              <a:spcBef>
                <a:spcPts val="100"/>
              </a:spcBef>
            </a:pPr>
            <a:endParaRPr sz="1400" b="0" i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Explicar código legado</a:t>
            </a: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Código antigo que ninguém entende? A IA traduz para linguagem humana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Pergunta para Engajamento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3498DB"/>
                </a:solidFill>
                <a:latin typeface="Calibri"/>
              </a:rPr>
              <a:t>Quem já usou IA para alguma tarefa?</a:t>
            </a:r>
          </a:p>
          <a:p>
            <a:pPr>
              <a:spcBef>
                <a:spcPts val="100"/>
              </a:spcBef>
            </a:pPr>
            <a:endParaRPr sz="18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Pode ser </a:t>
            </a:r>
            <a:r>
              <a:rPr sz="1600" b="1">
                <a:solidFill>
                  <a:srgbClr val="1B3A5C"/>
                </a:solidFill>
                <a:latin typeface="Calibri"/>
              </a:rPr>
              <a:t>ChatGPT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600" b="1">
                <a:solidFill>
                  <a:srgbClr val="1B3A5C"/>
                </a:solidFill>
                <a:latin typeface="Calibri"/>
              </a:rPr>
              <a:t>Copilot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600" b="1">
                <a:solidFill>
                  <a:srgbClr val="1B3A5C"/>
                </a:solidFill>
                <a:latin typeface="Calibri"/>
              </a:rPr>
              <a:t>Gemini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600" b="1">
                <a:solidFill>
                  <a:srgbClr val="1B3A5C"/>
                </a:solidFill>
                <a:latin typeface="Calibri"/>
              </a:rPr>
              <a:t>Claude</a:t>
            </a:r>
            <a:r>
              <a:rPr sz="1600" b="0">
                <a:solidFill>
                  <a:srgbClr val="4A4A4A"/>
                </a:solidFill>
                <a:latin typeface="Calibri"/>
              </a:rPr>
              <a:t> ou qualquer outra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Não precisa ser para programação!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Exemplos comuns: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Pedir para resumir um texto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Gerar um e-mail profissional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Tirar dúvidas de programação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Pedir ajuda com Excel ou SQL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Levante a mão ou escreva no chat!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é um LLM — Large Language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Modelo de Linguagem de Grande Escala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Um LLM é um programa de computador treinado com </a:t>
            </a:r>
            <a:r>
              <a:rPr sz="1600" b="1">
                <a:solidFill>
                  <a:srgbClr val="1B3A5C"/>
                </a:solidFill>
                <a:latin typeface="Calibri"/>
              </a:rPr>
              <a:t>bilhões de textos</a:t>
            </a:r>
            <a:r>
              <a:rPr sz="1600" b="0">
                <a:solidFill>
                  <a:srgbClr val="4A4A4A"/>
                </a:solidFill>
                <a:latin typeface="Calibri"/>
              </a:rPr>
              <a:t> (livros, sites, código, documentação) para entender e gerar linguagem.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Analogia: autocomplete turbinado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O </a:t>
            </a:r>
            <a:r>
              <a:rPr sz="1600" b="1">
                <a:solidFill>
                  <a:srgbClr val="1B3A5C"/>
                </a:solidFill>
                <a:latin typeface="Calibri"/>
              </a:rPr>
              <a:t>autocomplete do celular</a:t>
            </a:r>
            <a:r>
              <a:rPr sz="1600" b="0">
                <a:solidFill>
                  <a:srgbClr val="4A4A4A"/>
                </a:solidFill>
                <a:latin typeface="Calibri"/>
              </a:rPr>
              <a:t> prevê a próxima </a:t>
            </a:r>
            <a:r>
              <a:rPr sz="1600" b="1">
                <a:solidFill>
                  <a:srgbClr val="1B3A5C"/>
                </a:solidFill>
                <a:latin typeface="Calibri"/>
              </a:rPr>
              <a:t>palavra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Um </a:t>
            </a:r>
            <a:r>
              <a:rPr sz="1600" b="1">
                <a:solidFill>
                  <a:srgbClr val="1B3A5C"/>
                </a:solidFill>
                <a:latin typeface="Calibri"/>
              </a:rPr>
              <a:t>LLM</a:t>
            </a:r>
            <a:r>
              <a:rPr sz="1600" b="0">
                <a:solidFill>
                  <a:srgbClr val="4A4A4A"/>
                </a:solidFill>
                <a:latin typeface="Calibri"/>
              </a:rPr>
              <a:t> prevê os próximos </a:t>
            </a:r>
            <a:r>
              <a:rPr sz="1600" b="1">
                <a:solidFill>
                  <a:srgbClr val="1B3A5C"/>
                </a:solidFill>
                <a:latin typeface="Calibri"/>
              </a:rPr>
              <a:t>parágrafos inteiros</a:t>
            </a:r>
            <a:r>
              <a:rPr sz="1600" b="0">
                <a:solidFill>
                  <a:srgbClr val="4A4A4A"/>
                </a:solidFill>
                <a:latin typeface="Calibri"/>
              </a:rPr>
              <a:t>, com lógica e coerência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Ele não "entende" como um humano — ele calcula </a:t>
            </a:r>
            <a:r>
              <a:rPr sz="1600" b="1">
                <a:solidFill>
                  <a:srgbClr val="1B3A5C"/>
                </a:solidFill>
                <a:latin typeface="Calibri"/>
              </a:rPr>
              <a:t>probabilidades</a:t>
            </a:r>
            <a:r>
              <a:rPr sz="1600" b="0">
                <a:solidFill>
                  <a:srgbClr val="4A4A4A"/>
                </a:solidFill>
                <a:latin typeface="Calibri"/>
              </a:rPr>
              <a:t> do que vem a seguir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é um LLM — Large Language Model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Exemplos de LLMs: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Empresa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7894320" y="15036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Uso comum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 dirty="0">
                <a:solidFill>
                  <a:srgbClr val="4A4A4A"/>
                </a:solidFill>
                <a:latin typeface="Calibri"/>
              </a:rPr>
              <a:t>GPT-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5.2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6720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OpenAI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4320" y="1884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ChatGPT,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Anthropic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4320" y="2214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Análise de texto, código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Gemini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Google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4320" y="2545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Buscas, assistente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Llama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20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4320" y="2875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Código aberto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Como funciona: Previsão do Próximo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O LLM funciona como uma máquina de </a:t>
            </a:r>
            <a:r>
              <a:rPr sz="1500" b="1">
                <a:solidFill>
                  <a:srgbClr val="1B3A5C"/>
                </a:solidFill>
                <a:latin typeface="Calibri"/>
              </a:rPr>
              <a:t>prever a próxima peça</a:t>
            </a:r>
            <a:r>
              <a:rPr sz="1500" b="0">
                <a:solidFill>
                  <a:srgbClr val="4A4A4A"/>
                </a:solidFill>
                <a:latin typeface="Calibri"/>
              </a:rPr>
              <a:t> do texto: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1257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1104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Entrada: "def calcular_total(valores):"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  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LLM analisa o contexto e os padrões que aprendeu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           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Previsão: " return sum(valores)"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Como funciona: Previsão do Próximo Token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Passo a passo simplificado: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Você escreve algo (um </a:t>
            </a:r>
            <a:r>
              <a:rPr sz="1500" b="1">
                <a:solidFill>
                  <a:srgbClr val="1B3A5C"/>
                </a:solidFill>
                <a:latin typeface="Calibri"/>
              </a:rPr>
              <a:t>prompt</a:t>
            </a:r>
            <a:r>
              <a:rPr sz="1500" b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O modelo </a:t>
            </a:r>
            <a:r>
              <a:rPr sz="1500" b="1">
                <a:solidFill>
                  <a:srgbClr val="1B3A5C"/>
                </a:solidFill>
                <a:latin typeface="Calibri"/>
              </a:rPr>
              <a:t>analisa</a:t>
            </a:r>
            <a:r>
              <a:rPr sz="1500" b="0">
                <a:solidFill>
                  <a:srgbClr val="4A4A4A"/>
                </a:solidFill>
                <a:latin typeface="Calibri"/>
              </a:rPr>
              <a:t> todas as palavras/tokens do prompt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Ele calcula: </a:t>
            </a:r>
            <a:r>
              <a:rPr sz="1500" b="0" i="1">
                <a:solidFill>
                  <a:srgbClr val="4A4A4A"/>
                </a:solidFill>
                <a:latin typeface="Calibri"/>
              </a:rPr>
              <a:t>"qual é a próxima palavra mais provável?"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Gera um token, adiciona ao contexto, e repete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5. O processo continua até completar a resposta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Ele não consulta uma base de dados — ele usa padrões estatísticos aprendidos no treinamento.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45AE9-4281-1701-C8E6-820CAD4C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54213-2F57-9E9E-4DDA-EDF4B8FD3F8D}"/>
              </a:ext>
            </a:extLst>
          </p:cNvPr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E8665-BF66-A266-5099-D8AD610E9DCD}"/>
              </a:ext>
            </a:extLst>
          </p:cNvPr>
          <p:cNvSpPr txBox="1"/>
          <p:nvPr/>
        </p:nvSpPr>
        <p:spPr>
          <a:xfrm>
            <a:off x="548640" y="2743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B3A5C"/>
                </a:solidFill>
                <a:latin typeface="Calibri"/>
              </a:rPr>
              <a:t>Demo Prompt </a:t>
            </a:r>
            <a:endParaRPr sz="2400" b="1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8912CE-845C-6B90-6C38-57644CC0348E}"/>
              </a:ext>
            </a:extLst>
          </p:cNvPr>
          <p:cNvSpPr txBox="1"/>
          <p:nvPr/>
        </p:nvSpPr>
        <p:spPr>
          <a:xfrm>
            <a:off x="640080" y="1097280"/>
            <a:ext cx="10881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Prompt Context</a:t>
            </a:r>
            <a:endParaRPr sz="1500" b="1" dirty="0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500" b="1" dirty="0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 dirty="0">
                <a:solidFill>
                  <a:srgbClr val="4A4A4A"/>
                </a:solidFill>
                <a:latin typeface="Calibri"/>
              </a:rPr>
              <a:t>1. 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Qual o tempo </a:t>
            </a:r>
            <a:r>
              <a:rPr lang="en-US" sz="1500" b="0" dirty="0" err="1">
                <a:solidFill>
                  <a:srgbClr val="4A4A4A"/>
                </a:solidFill>
                <a:latin typeface="Calibri"/>
              </a:rPr>
              <a:t>hoje</a:t>
            </a:r>
            <a:r>
              <a:rPr lang="en-US" sz="1500" b="0" dirty="0">
                <a:solidFill>
                  <a:srgbClr val="4A4A4A"/>
                </a:solidFill>
                <a:latin typeface="Calibri"/>
              </a:rPr>
              <a:t>?</a:t>
            </a:r>
            <a:endParaRPr sz="15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endParaRPr sz="15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71D24-4A23-7417-2CAE-F87F17C61BC4}"/>
              </a:ext>
            </a:extLst>
          </p:cNvPr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C98A6-01A9-80ED-9DA8-AB2014E5A00C}"/>
              </a:ext>
            </a:extLst>
          </p:cNvPr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975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Conceito de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é um Token?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Token é a </a:t>
            </a:r>
            <a:r>
              <a:rPr sz="1500" b="1">
                <a:solidFill>
                  <a:srgbClr val="1B3A5C"/>
                </a:solidFill>
                <a:latin typeface="Calibri"/>
              </a:rPr>
              <a:t>menor unidade de texto</a:t>
            </a:r>
            <a:r>
              <a:rPr sz="1500" b="0">
                <a:solidFill>
                  <a:srgbClr val="4A4A4A"/>
                </a:solidFill>
                <a:latin typeface="Calibri"/>
              </a:rPr>
              <a:t> que o LLM processa. Não é exatamente uma palavra — pode ser um pedaço de palavra, um símbolo ou um espaço.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Exemplos práticos: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0624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20624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Tokens aproximados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434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"Olá"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4434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1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36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"Olá, mundo!"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7736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4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38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"Desenvolvimento"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31038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2-3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340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Uma linha de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4340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5-15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642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Um arquivo de 100 linhas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7642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~500-1000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Conceito de Token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137" y="1097280"/>
            <a:ext cx="10881360" cy="1956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1B3A5C"/>
                </a:solidFill>
                <a:latin typeface="Calibri"/>
              </a:rPr>
              <a:t>Por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que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isso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importa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?</a:t>
            </a:r>
          </a:p>
          <a:p>
            <a:pPr>
              <a:spcBef>
                <a:spcPts val="100"/>
              </a:spcBef>
            </a:pPr>
            <a:endParaRPr sz="1600" b="1" dirty="0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 dirty="0">
                <a:solidFill>
                  <a:srgbClr val="4A4A4A"/>
                </a:solidFill>
                <a:latin typeface="Calibri"/>
              </a:rPr>
              <a:t>• LLMs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têm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limite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de tokens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conseguem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processar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janela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contexto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200" b="0" dirty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Quanto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mais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contexto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você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dá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mais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tokens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gasta</a:t>
            </a:r>
            <a:endParaRPr sz="16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 dirty="0">
                <a:solidFill>
                  <a:srgbClr val="4A4A4A"/>
                </a:solidFill>
                <a:latin typeface="Calibri"/>
              </a:rPr>
              <a:t>• Código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muito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longo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pode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estourar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o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limite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e a IA "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esquece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" o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início</a:t>
            </a:r>
            <a:endParaRPr lang="en-US" sz="16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endParaRPr lang="en-US" sz="160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endParaRPr sz="16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A1DFA-0F3A-032F-8476-0FBD217B0642}"/>
              </a:ext>
            </a:extLst>
          </p:cNvPr>
          <p:cNvSpPr/>
          <p:nvPr/>
        </p:nvSpPr>
        <p:spPr>
          <a:xfrm>
            <a:off x="749137" y="3374425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4F422D-F197-1195-BB5A-3574DD685FBF}"/>
              </a:ext>
            </a:extLst>
          </p:cNvPr>
          <p:cNvSpPr/>
          <p:nvPr/>
        </p:nvSpPr>
        <p:spPr>
          <a:xfrm>
            <a:off x="4376257" y="3374425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Janela de </a:t>
            </a:r>
            <a:r>
              <a:rPr lang="en-US" sz="1100" b="1" dirty="0" err="1">
                <a:solidFill>
                  <a:srgbClr val="FFFFFF"/>
                </a:solidFill>
                <a:latin typeface="Calibri"/>
              </a:rPr>
              <a:t>Contexto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37D64-CA65-9F8B-9846-6581D01D668C}"/>
              </a:ext>
            </a:extLst>
          </p:cNvPr>
          <p:cNvSpPr/>
          <p:nvPr/>
        </p:nvSpPr>
        <p:spPr>
          <a:xfrm>
            <a:off x="8003377" y="3374425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Calibri"/>
              </a:rPr>
              <a:t>Comparativo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B3E2A9-7062-69A6-C028-6BB794BCCDDC}"/>
              </a:ext>
            </a:extLst>
          </p:cNvPr>
          <p:cNvSpPr/>
          <p:nvPr/>
        </p:nvSpPr>
        <p:spPr>
          <a:xfrm>
            <a:off x="749137" y="3755425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 dirty="0">
                <a:solidFill>
                  <a:srgbClr val="4A4A4A"/>
                </a:solidFill>
                <a:latin typeface="Calibri"/>
              </a:rPr>
              <a:t>GPT-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5.2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72A678-92FE-4A35-A8D4-5BE2FB2BF537}"/>
              </a:ext>
            </a:extLst>
          </p:cNvPr>
          <p:cNvSpPr/>
          <p:nvPr/>
        </p:nvSpPr>
        <p:spPr>
          <a:xfrm>
            <a:off x="4376257" y="3755425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>
                <a:solidFill>
                  <a:srgbClr val="4A4A4A"/>
                </a:solidFill>
                <a:latin typeface="Calibri"/>
              </a:rPr>
              <a:t>400.000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BD130-D71B-AECE-8F03-CBC6BE7378CC}"/>
              </a:ext>
            </a:extLst>
          </p:cNvPr>
          <p:cNvSpPr/>
          <p:nvPr/>
        </p:nvSpPr>
        <p:spPr>
          <a:xfrm>
            <a:off x="8003377" y="3755425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Aprox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. 1000 </a:t>
            </a:r>
            <a:r>
              <a:rPr lang="en-US" sz="1000" b="0" dirty="0" err="1">
                <a:solidFill>
                  <a:srgbClr val="4A4A4A"/>
                </a:solidFill>
                <a:latin typeface="Calibri"/>
              </a:rPr>
              <a:t>páginas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D2C7D-36D7-FC00-82FB-42669F5709C6}"/>
              </a:ext>
            </a:extLst>
          </p:cNvPr>
          <p:cNvSpPr/>
          <p:nvPr/>
        </p:nvSpPr>
        <p:spPr>
          <a:xfrm>
            <a:off x="749137" y="40856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Claude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25C5A5-5A2F-392F-0DBB-32FA7685B50C}"/>
              </a:ext>
            </a:extLst>
          </p:cNvPr>
          <p:cNvSpPr/>
          <p:nvPr/>
        </p:nvSpPr>
        <p:spPr>
          <a:xfrm>
            <a:off x="4376257" y="40856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>
                <a:solidFill>
                  <a:srgbClr val="4A4A4A"/>
                </a:solidFill>
                <a:latin typeface="Calibri"/>
              </a:rPr>
              <a:t>1.000.000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CE89E-BB1F-603F-AC5E-C6A44D27E935}"/>
              </a:ext>
            </a:extLst>
          </p:cNvPr>
          <p:cNvSpPr/>
          <p:nvPr/>
        </p:nvSpPr>
        <p:spPr>
          <a:xfrm>
            <a:off x="8003377" y="40856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r>
              <a:rPr lang="en-US" sz="1000" dirty="0" err="1">
                <a:solidFill>
                  <a:srgbClr val="4A4A4A"/>
                </a:solidFill>
              </a:rPr>
              <a:t>Aprox</a:t>
            </a:r>
            <a:r>
              <a:rPr lang="en-US" sz="1000" dirty="0">
                <a:solidFill>
                  <a:srgbClr val="4A4A4A"/>
                </a:solidFill>
              </a:rPr>
              <a:t>. 1500 </a:t>
            </a:r>
            <a:r>
              <a:rPr lang="en-US" sz="1000" dirty="0" err="1">
                <a:solidFill>
                  <a:srgbClr val="4A4A4A"/>
                </a:solidFill>
              </a:rPr>
              <a:t>páginas</a:t>
            </a:r>
            <a:endParaRPr lang="en-US" sz="1000" dirty="0">
              <a:solidFill>
                <a:srgbClr val="4A4A4A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4F9A7C-0B2E-A869-4C2F-E2C64107C6E3}"/>
              </a:ext>
            </a:extLst>
          </p:cNvPr>
          <p:cNvSpPr/>
          <p:nvPr/>
        </p:nvSpPr>
        <p:spPr>
          <a:xfrm>
            <a:off x="749137" y="4415825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Gemini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4C28BD-E447-C3AC-3DEC-0DE2F930C514}"/>
              </a:ext>
            </a:extLst>
          </p:cNvPr>
          <p:cNvSpPr/>
          <p:nvPr/>
        </p:nvSpPr>
        <p:spPr>
          <a:xfrm>
            <a:off x="4376257" y="4415825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r>
              <a:rPr lang="en-US" sz="1000" dirty="0">
                <a:solidFill>
                  <a:srgbClr val="4A4A4A"/>
                </a:solidFill>
              </a:rPr>
              <a:t>1.000.000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AEECBE-2402-D3F0-96D6-F77758DD8D5A}"/>
              </a:ext>
            </a:extLst>
          </p:cNvPr>
          <p:cNvSpPr/>
          <p:nvPr/>
        </p:nvSpPr>
        <p:spPr>
          <a:xfrm>
            <a:off x="8003377" y="4415825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r>
              <a:rPr lang="en-US" sz="1000" dirty="0" err="1">
                <a:solidFill>
                  <a:srgbClr val="4A4A4A"/>
                </a:solidFill>
              </a:rPr>
              <a:t>Aprox</a:t>
            </a:r>
            <a:r>
              <a:rPr lang="en-US" sz="1000" dirty="0">
                <a:solidFill>
                  <a:srgbClr val="4A4A4A"/>
                </a:solidFill>
              </a:rPr>
              <a:t>. 1500 </a:t>
            </a:r>
            <a:r>
              <a:rPr lang="en-US" sz="1000" dirty="0" err="1">
                <a:solidFill>
                  <a:srgbClr val="4A4A4A"/>
                </a:solidFill>
              </a:rPr>
              <a:t>páginas</a:t>
            </a:r>
            <a:endParaRPr lang="en-US" sz="1000" dirty="0">
              <a:solidFill>
                <a:srgbClr val="4A4A4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543DBA-0AEC-2DFF-AB3D-96F5EDD7A102}"/>
              </a:ext>
            </a:extLst>
          </p:cNvPr>
          <p:cNvSpPr/>
          <p:nvPr/>
        </p:nvSpPr>
        <p:spPr>
          <a:xfrm>
            <a:off x="749137" y="47460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 dirty="0">
                <a:solidFill>
                  <a:srgbClr val="4A4A4A"/>
                </a:solidFill>
                <a:latin typeface="Calibri"/>
              </a:rPr>
              <a:t>Llama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4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47D498-9BB9-2ADF-AC22-95B88349FA8F}"/>
              </a:ext>
            </a:extLst>
          </p:cNvPr>
          <p:cNvSpPr/>
          <p:nvPr/>
        </p:nvSpPr>
        <p:spPr>
          <a:xfrm>
            <a:off x="4376257" y="47460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>
                <a:solidFill>
                  <a:srgbClr val="4A4A4A"/>
                </a:solidFill>
                <a:latin typeface="Calibri"/>
              </a:rPr>
              <a:t>1.000.000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9C04DB-3A1F-AE33-CE87-223E7572B665}"/>
              </a:ext>
            </a:extLst>
          </p:cNvPr>
          <p:cNvSpPr/>
          <p:nvPr/>
        </p:nvSpPr>
        <p:spPr>
          <a:xfrm>
            <a:off x="8003377" y="47460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r>
              <a:rPr lang="en-US" sz="1000" dirty="0" err="1">
                <a:solidFill>
                  <a:srgbClr val="4A4A4A"/>
                </a:solidFill>
              </a:rPr>
              <a:t>Aprox</a:t>
            </a:r>
            <a:r>
              <a:rPr lang="en-US" sz="1000" dirty="0">
                <a:solidFill>
                  <a:srgbClr val="4A4A4A"/>
                </a:solidFill>
              </a:rPr>
              <a:t>. 1500 </a:t>
            </a:r>
            <a:r>
              <a:rPr lang="en-US" sz="1000" dirty="0" err="1">
                <a:solidFill>
                  <a:srgbClr val="4A4A4A"/>
                </a:solidFill>
              </a:rPr>
              <a:t>páginas</a:t>
            </a:r>
            <a:endParaRPr lang="en-US" sz="1000" dirty="0">
              <a:solidFill>
                <a:srgbClr val="4A4A4A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CC3912-2E71-BEBC-D5E4-D8CBA267E3B6}"/>
              </a:ext>
            </a:extLst>
          </p:cNvPr>
          <p:cNvSpPr/>
          <p:nvPr/>
        </p:nvSpPr>
        <p:spPr>
          <a:xfrm>
            <a:off x="749137" y="50762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 dirty="0">
                <a:solidFill>
                  <a:srgbClr val="4A4A4A"/>
                </a:solidFill>
                <a:latin typeface="Calibri"/>
              </a:rPr>
              <a:t>Llama</a:t>
            </a:r>
            <a:r>
              <a:rPr lang="en-US" sz="1000" b="0" dirty="0">
                <a:solidFill>
                  <a:srgbClr val="4A4A4A"/>
                </a:solidFill>
                <a:latin typeface="Calibri"/>
              </a:rPr>
              <a:t> 4 Scout (beta)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5446A0-E4E4-63E4-3919-5EA77849F3D3}"/>
              </a:ext>
            </a:extLst>
          </p:cNvPr>
          <p:cNvSpPr/>
          <p:nvPr/>
        </p:nvSpPr>
        <p:spPr>
          <a:xfrm>
            <a:off x="4376257" y="50762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lang="en-US" sz="1000" b="0" dirty="0">
                <a:solidFill>
                  <a:srgbClr val="4A4A4A"/>
                </a:solidFill>
                <a:latin typeface="Calibri"/>
              </a:rPr>
              <a:t>10.000.000</a:t>
            </a:r>
            <a:endParaRPr sz="10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C8F74A-13E4-974E-F647-0E68D4F53864}"/>
              </a:ext>
            </a:extLst>
          </p:cNvPr>
          <p:cNvSpPr/>
          <p:nvPr/>
        </p:nvSpPr>
        <p:spPr>
          <a:xfrm>
            <a:off x="8003377" y="5076225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r>
              <a:rPr lang="en-US" sz="1000" dirty="0" err="1">
                <a:solidFill>
                  <a:srgbClr val="4A4A4A"/>
                </a:solidFill>
              </a:rPr>
              <a:t>Aprox</a:t>
            </a:r>
            <a:r>
              <a:rPr lang="en-US" sz="1000" dirty="0">
                <a:solidFill>
                  <a:srgbClr val="4A4A4A"/>
                </a:solidFill>
              </a:rPr>
              <a:t>. 15000 </a:t>
            </a:r>
            <a:r>
              <a:rPr lang="en-US" sz="1000" dirty="0" err="1">
                <a:solidFill>
                  <a:srgbClr val="4A4A4A"/>
                </a:solidFill>
              </a:rPr>
              <a:t>páginas</a:t>
            </a:r>
            <a:endParaRPr lang="en-US" sz="1000" dirty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Arquitetura de Interação com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Toda conversa com um LLM segue esta estrutura: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781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628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┌─────────────────────────────────────────┐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SYSTEM PROMPT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(Define o comportamento da IA)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Ex: "Você é um assistente de Python"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├─────────────────────────────────────────┤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USER PROMPT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(Seu pedido / pergunta)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Ex: "Crie uma função que soma lista"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├─────────────────────────────────────────┤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RESPOSTA DA IA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(O que o modelo gera)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│ Ex: "def somar(lista): return sum..."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└─────────────────────────────────────────┘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Arquitetura de Interação com LLMs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System Prompt</a:t>
            </a:r>
            <a:r>
              <a:rPr sz="1500" b="0">
                <a:solidFill>
                  <a:srgbClr val="4A4A4A"/>
                </a:solidFill>
                <a:latin typeface="Calibri"/>
              </a:rPr>
              <a:t>: instruções "invisíveis" que definem como a IA se comporta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User Prompt</a:t>
            </a:r>
            <a:r>
              <a:rPr sz="1500" b="0">
                <a:solidFill>
                  <a:srgbClr val="4A4A4A"/>
                </a:solidFill>
                <a:latin typeface="Calibri"/>
              </a:rPr>
              <a:t>: o que </a:t>
            </a:r>
            <a:r>
              <a:rPr sz="1500" b="1">
                <a:solidFill>
                  <a:srgbClr val="1B3A5C"/>
                </a:solidFill>
                <a:latin typeface="Calibri"/>
              </a:rPr>
              <a:t>você</a:t>
            </a:r>
            <a:r>
              <a:rPr sz="1500" b="0">
                <a:solidFill>
                  <a:srgbClr val="4A4A4A"/>
                </a:solidFill>
                <a:latin typeface="Calibri"/>
              </a:rPr>
              <a:t> escreve — sua pergunta ou comando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Resposta</a:t>
            </a:r>
            <a:r>
              <a:rPr sz="1500" b="0">
                <a:solidFill>
                  <a:srgbClr val="4A4A4A"/>
                </a:solidFill>
                <a:latin typeface="Calibri"/>
              </a:rPr>
              <a:t>: o que a IA gera com base nos dois anteriores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No GitHub Copilot, o System Prompt já vem configurado para ajudar com código!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 que é Contexto e por que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9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Contexto = tudo que a IA "enxerga" para gerar sua resposta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No GitHub Copilot, o contexto inclui: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</a:t>
            </a:r>
            <a:r>
              <a:rPr sz="1500" b="1">
                <a:solidFill>
                  <a:srgbClr val="1B3A5C"/>
                </a:solidFill>
                <a:latin typeface="Calibri"/>
              </a:rPr>
              <a:t>arquivo</a:t>
            </a:r>
            <a:r>
              <a:rPr sz="1500" b="0">
                <a:solidFill>
                  <a:srgbClr val="4A4A4A"/>
                </a:solidFill>
                <a:latin typeface="Calibri"/>
              </a:rPr>
              <a:t> que você está editando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Arquivos abertos</a:t>
            </a:r>
            <a:r>
              <a:rPr sz="1500" b="0">
                <a:solidFill>
                  <a:srgbClr val="4A4A4A"/>
                </a:solidFill>
                <a:latin typeface="Calibri"/>
              </a:rPr>
              <a:t> em outras abas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Comentários</a:t>
            </a:r>
            <a:r>
              <a:rPr sz="1500" b="0">
                <a:solidFill>
                  <a:srgbClr val="4A4A4A"/>
                </a:solidFill>
                <a:latin typeface="Calibri"/>
              </a:rPr>
              <a:t> no código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</a:t>
            </a:r>
            <a:r>
              <a:rPr sz="1500" b="1">
                <a:solidFill>
                  <a:srgbClr val="1B3A5C"/>
                </a:solidFill>
                <a:latin typeface="Calibri"/>
              </a:rPr>
              <a:t>nome do arquivo</a:t>
            </a:r>
            <a:r>
              <a:rPr sz="1500" b="0">
                <a:solidFill>
                  <a:srgbClr val="4A4A4A"/>
                </a:solidFill>
                <a:latin typeface="Calibri"/>
              </a:rPr>
              <a:t> (ex: </a:t>
            </a:r>
            <a:r>
              <a:rPr sz="1300" b="0">
                <a:solidFill>
                  <a:srgbClr val="4A4A4A"/>
                </a:solidFill>
                <a:latin typeface="Consolas"/>
              </a:rPr>
              <a:t>calcular_juros.py</a:t>
            </a:r>
            <a:r>
              <a:rPr sz="1500" b="0">
                <a:solidFill>
                  <a:srgbClr val="4A4A4A"/>
                </a:solidFill>
                <a:latin typeface="Calibri"/>
              </a:rPr>
              <a:t> dá dica do que você quer)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O que é Contexto e por que importa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Janela de contexto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1638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┌────────────────────────────────────────────┐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│ IA lembra ←──── JANELA DE CONTEXTO ────→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│ [início da conversa ... mensagens ... fim]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│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│ Se a conversa for muito longa,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│ o INÍCIO é "esquecido" pela IA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└────────────────────────────────────────────┘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0580"/>
            <a:ext cx="108813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Dica prática: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Mantenha conversas </a:t>
            </a:r>
            <a:r>
              <a:rPr sz="1500" b="1">
                <a:solidFill>
                  <a:srgbClr val="1B3A5C"/>
                </a:solidFill>
                <a:latin typeface="Calibri"/>
              </a:rPr>
              <a:t>curtas e focadas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Se mudar de assunto, comece um </a:t>
            </a:r>
            <a:r>
              <a:rPr sz="1500" b="1">
                <a:solidFill>
                  <a:srgbClr val="1B3A5C"/>
                </a:solidFill>
                <a:latin typeface="Calibri"/>
              </a:rPr>
              <a:t>novo chat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Dê </a:t>
            </a:r>
            <a:r>
              <a:rPr sz="1500" b="1">
                <a:solidFill>
                  <a:srgbClr val="1B3A5C"/>
                </a:solidFill>
                <a:latin typeface="Calibri"/>
              </a:rPr>
              <a:t>nomes descritivos</a:t>
            </a:r>
            <a:r>
              <a:rPr sz="1500" b="0">
                <a:solidFill>
                  <a:srgbClr val="4A4A4A"/>
                </a:solidFill>
                <a:latin typeface="Calibri"/>
              </a:rPr>
              <a:t> aos seus arquivos e variáveis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Como a IA gera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Passo a passo simplificado: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1. </a:t>
            </a:r>
            <a:r>
              <a:rPr sz="1600" b="1">
                <a:solidFill>
                  <a:srgbClr val="1B3A5C"/>
                </a:solidFill>
                <a:latin typeface="Calibri"/>
              </a:rPr>
              <a:t>Você escreve um comentário ou prompt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```python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# Função que calcula o saldo médio de uma lista de contas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onsolas"/>
              </a:rPr>
              <a:t>`</a:t>
            </a:r>
          </a:p>
          <a:p>
            <a:pPr>
              <a:spcBef>
                <a:spcPts val="100"/>
              </a:spcBef>
            </a:pPr>
            <a:endParaRPr sz="14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2. </a:t>
            </a:r>
            <a:r>
              <a:rPr sz="1600" b="1">
                <a:solidFill>
                  <a:srgbClr val="1B3A5C"/>
                </a:solidFill>
                <a:latin typeface="Calibri"/>
              </a:rPr>
              <a:t>A IA analisa o contexto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Linguagem: Python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Objetivo: calcular saldo médio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Estrutura esperada: função com parâmetro lista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Como a IA gera código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3. </a:t>
            </a:r>
            <a:r>
              <a:rPr sz="1600" b="1">
                <a:solidFill>
                  <a:srgbClr val="1B3A5C"/>
                </a:solidFill>
                <a:latin typeface="Calibri"/>
              </a:rPr>
              <a:t>A IA gera o código token por token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```python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def calcular</a:t>
            </a:r>
            <a:r>
              <a:rPr sz="1600" b="0" i="1">
                <a:solidFill>
                  <a:srgbClr val="4A4A4A"/>
                </a:solidFill>
                <a:latin typeface="Calibri"/>
              </a:rPr>
              <a:t>saldo</a:t>
            </a:r>
            <a:r>
              <a:rPr sz="1600" b="0">
                <a:solidFill>
                  <a:srgbClr val="4A4A4A"/>
                </a:solidFill>
                <a:latin typeface="Calibri"/>
              </a:rPr>
              <a:t>medio(contas):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if not contas: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return 0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total = sum(conta['saldo'] for conta in contas)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return total / len(contas)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onsolas"/>
              </a:rPr>
              <a:t>`</a:t>
            </a:r>
          </a:p>
          <a:p>
            <a:pPr>
              <a:spcBef>
                <a:spcPts val="100"/>
              </a:spcBef>
            </a:pPr>
            <a:endParaRPr sz="14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4. </a:t>
            </a:r>
            <a:r>
              <a:rPr sz="1600" b="1">
                <a:solidFill>
                  <a:srgbClr val="1B3A5C"/>
                </a:solidFill>
                <a:latin typeface="Calibri"/>
              </a:rPr>
              <a:t>Você revisa e aceita (ou ajusta)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A IA gera código estatisticamente provável, não logicamente garantido. Sempre revise!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Limitações dos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Alucinação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A IA </a:t>
            </a:r>
            <a:r>
              <a:rPr sz="1500" b="1">
                <a:solidFill>
                  <a:srgbClr val="1B3A5C"/>
                </a:solidFill>
                <a:latin typeface="Calibri"/>
              </a:rPr>
              <a:t>inventa</a:t>
            </a:r>
            <a:r>
              <a:rPr sz="1500" b="0">
                <a:solidFill>
                  <a:srgbClr val="4A4A4A"/>
                </a:solidFill>
                <a:latin typeface="Calibri"/>
              </a:rPr>
              <a:t> informações que parecem reais mas são falsas.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Pode citar bibliotecas que </a:t>
            </a:r>
            <a:r>
              <a:rPr sz="1500" b="1">
                <a:solidFill>
                  <a:srgbClr val="1B3A5C"/>
                </a:solidFill>
                <a:latin typeface="Calibri"/>
              </a:rPr>
              <a:t>não existem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Pode gerar funções com </a:t>
            </a:r>
            <a:r>
              <a:rPr sz="1500" b="1">
                <a:solidFill>
                  <a:srgbClr val="1B3A5C"/>
                </a:solidFill>
                <a:latin typeface="Calibri"/>
              </a:rPr>
              <a:t>parâmetros inventados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Pode afirmar coisas com </a:t>
            </a:r>
            <a:r>
              <a:rPr sz="1500" b="1">
                <a:solidFill>
                  <a:srgbClr val="1B3A5C"/>
                </a:solidFill>
                <a:latin typeface="Calibri"/>
              </a:rPr>
              <a:t>total confiança</a:t>
            </a:r>
            <a:r>
              <a:rPr sz="1500" b="0">
                <a:solidFill>
                  <a:srgbClr val="4A4A4A"/>
                </a:solidFill>
                <a:latin typeface="Calibri"/>
              </a:rPr>
              <a:t> mesmo estando errada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Contexto limitado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Se a conversa é longa, a IA </a:t>
            </a:r>
            <a:r>
              <a:rPr sz="1500" b="1">
                <a:solidFill>
                  <a:srgbClr val="1B3A5C"/>
                </a:solidFill>
                <a:latin typeface="Calibri"/>
              </a:rPr>
              <a:t>esquece o início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Arquivos muito grandes podem </a:t>
            </a:r>
            <a:r>
              <a:rPr sz="1500" b="1">
                <a:solidFill>
                  <a:srgbClr val="1B3A5C"/>
                </a:solidFill>
                <a:latin typeface="Calibri"/>
              </a:rPr>
              <a:t>não caber</a:t>
            </a:r>
            <a:r>
              <a:rPr sz="1500" b="0">
                <a:solidFill>
                  <a:srgbClr val="4A4A4A"/>
                </a:solidFill>
                <a:latin typeface="Calibri"/>
              </a:rPr>
              <a:t> na janela de contexto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Limitações dos LLMs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Dependência de clareza no prompt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Prompt vago = resposta vaga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Prompt ambíguo = resposta imprevisível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A IA não lê sua mente — ela lê seu </a:t>
            </a:r>
            <a:r>
              <a:rPr sz="1500" b="1">
                <a:solidFill>
                  <a:srgbClr val="1B3A5C"/>
                </a:solidFill>
                <a:latin typeface="Calibri"/>
              </a:rPr>
              <a:t>texto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Dados de treinamento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modelo tem uma </a:t>
            </a:r>
            <a:r>
              <a:rPr sz="1500" b="1">
                <a:solidFill>
                  <a:srgbClr val="1B3A5C"/>
                </a:solidFill>
                <a:latin typeface="Calibri"/>
              </a:rPr>
              <a:t>data de corte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não sabe de novidades recentes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Pode sugerir código com </a:t>
            </a:r>
            <a:r>
              <a:rPr sz="1500" b="1">
                <a:solidFill>
                  <a:srgbClr val="1B3A5C"/>
                </a:solidFill>
                <a:latin typeface="Calibri"/>
              </a:rPr>
              <a:t>práticas desatualizadas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Regra de ouro: nunca confie cegamente na IA. Sempre revise, teste e valide.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Exemplo: Mesmo Pedido, Prompts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 vago: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"Faz uma função de banco"</a:t>
            </a:r>
          </a:p>
          <a:p>
            <a:pPr>
              <a:spcBef>
                <a:spcPts val="100"/>
              </a:spcBef>
            </a:pPr>
            <a:endParaRPr sz="1300" b="0" i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Resultado provável: código genérico, incompleto, sem clareza do que fazer.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Exemplo: Mesmo Pedido, Prompts Diferentes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 específico: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"Crie uma função Python que recebe uma lista de dicionários com campos 'cliente' e 'saldo', e retorna apenas os clientes com saldo negativo, ordenados do mais negativo para o menos negativo."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Exemplo: Mesmo Pedido, Prompts Diferentes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2781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73480"/>
            <a:ext cx="10515600" cy="2628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clientes_saldo_negativo(contas):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negativos = [c for c in contas if c['saldo'] &lt; 0]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sorted(negativos, key=lambda c: c['saldo'])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Exemplo de uso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contas =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{'cliente': 'Ana', 'saldo': -500},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{'cliente': 'João', 'saldo': 1200},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{'cliente': 'Maria', 'saldo': -150},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print(clientes_saldo_negativo(contas))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[{'cliente': 'Ana', 'saldo': -500}, {'cliente': 'Maria', 'saldo': -150}]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801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 qualidade da resposta depende diretamente da qualidade do seu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910D-FD03-8F53-8444-E27F2228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E685AA-FBB8-FBA7-7522-38F99AC7C2F9}"/>
              </a:ext>
            </a:extLst>
          </p:cNvPr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BA35D-C375-51D0-7C98-354ACB2EF02C}"/>
              </a:ext>
            </a:extLst>
          </p:cNvPr>
          <p:cNvSpPr txBox="1"/>
          <p:nvPr/>
        </p:nvSpPr>
        <p:spPr>
          <a:xfrm>
            <a:off x="609447" y="2895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1B3A5C"/>
                </a:solidFill>
                <a:latin typeface="Calibri"/>
              </a:rPr>
              <a:t>DEMO</a:t>
            </a:r>
            <a:endParaRPr sz="6000" b="1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D0FF0-7D7F-20EE-A7D7-25A3AD218BC3}"/>
              </a:ext>
            </a:extLst>
          </p:cNvPr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865DC-F81C-C3D6-8A0D-4010264D711D}"/>
              </a:ext>
            </a:extLst>
          </p:cNvPr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11846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Mapa de Ferramentas de IA para Desenvolvimento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097280"/>
          <a:ext cx="1069848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FORA DA IDE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DENTRO DA IDE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ChatGPT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GitHub Copilot (VS Code)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Claude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Cursor (IDE completa com IA)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Gemini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Cody (Sourcegraph)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Perplexity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Amazon CodeWhisperer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PROTOTIPACAO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ESPECIALISTAS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GitHub Spark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GitHub Copilot Agent Mode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Lovable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Copilot Workspace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Bolt.new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Devin (agente autonomo)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   V0 (Vercel)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ChatGPT — Uso Conversacional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O que é?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Interface de chat da OpenAI para conversar com os modelos GPT.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Quando usar para desenvolvimento: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Tirar dúvidas conceituais</a:t>
            </a:r>
            <a:r>
              <a:rPr sz="1600" b="0">
                <a:solidFill>
                  <a:srgbClr val="4A4A4A"/>
                </a:solidFill>
                <a:latin typeface="Calibri"/>
              </a:rPr>
              <a:t>: "O que é uma API REST?"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Planejar arquitetura</a:t>
            </a:r>
            <a:r>
              <a:rPr sz="1600" b="0">
                <a:solidFill>
                  <a:srgbClr val="4A4A4A"/>
                </a:solidFill>
                <a:latin typeface="Calibri"/>
              </a:rPr>
              <a:t>: "Como estruturo um sistema de pagamentos?"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Debugar erros</a:t>
            </a:r>
            <a:r>
              <a:rPr sz="1600" b="0">
                <a:solidFill>
                  <a:srgbClr val="4A4A4A"/>
                </a:solidFill>
                <a:latin typeface="Calibri"/>
              </a:rPr>
              <a:t>: cole o erro e peça explicação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Gerar documentação</a:t>
            </a:r>
            <a:r>
              <a:rPr sz="1600" b="0">
                <a:solidFill>
                  <a:srgbClr val="4A4A4A"/>
                </a:solidFill>
                <a:latin typeface="Calibri"/>
              </a:rPr>
              <a:t>: "Documente esta função"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Aprender conceitos novos</a:t>
            </a:r>
            <a:r>
              <a:rPr sz="1600" b="0">
                <a:solidFill>
                  <a:srgbClr val="4A4A4A"/>
                </a:solidFill>
                <a:latin typeface="Calibri"/>
              </a:rPr>
              <a:t>: "Explique decorators em Python"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ChatGPT — Uso Conversacional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5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 err="1">
                <a:solidFill>
                  <a:srgbClr val="1B3A5C"/>
                </a:solidFill>
                <a:latin typeface="Calibri"/>
              </a:rPr>
              <a:t>Exemplo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A5C"/>
                </a:solidFill>
                <a:latin typeface="Calibri"/>
              </a:rPr>
              <a:t>prático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:</a:t>
            </a:r>
          </a:p>
          <a:p>
            <a:pPr>
              <a:spcBef>
                <a:spcPts val="400"/>
              </a:spcBef>
            </a:pPr>
            <a:r>
              <a:rPr sz="1400" b="0" i="1" dirty="0">
                <a:solidFill>
                  <a:srgbClr val="3498DB"/>
                </a:solidFill>
                <a:latin typeface="Calibri"/>
              </a:rPr>
              <a:t>❝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Você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: "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Explique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o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que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faz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este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código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SQL e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sugira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melhorias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"</a:t>
            </a:r>
          </a:p>
          <a:p>
            <a:pPr>
              <a:spcBef>
                <a:spcPts val="200"/>
              </a:spcBef>
            </a:pPr>
            <a:r>
              <a:rPr sz="1600" b="0" dirty="0">
                <a:solidFill>
                  <a:srgbClr val="4A4A4A"/>
                </a:solidFill>
                <a:latin typeface="Calibri"/>
              </a:rPr>
              <a:t>&gt;</a:t>
            </a:r>
          </a:p>
          <a:p>
            <a:pPr>
              <a:spcBef>
                <a:spcPts val="400"/>
              </a:spcBef>
            </a:pPr>
            <a:r>
              <a:rPr sz="1400" b="0" i="1" dirty="0">
                <a:solidFill>
                  <a:srgbClr val="3498DB"/>
                </a:solidFill>
                <a:latin typeface="Calibri"/>
              </a:rPr>
              <a:t>❝ ChatGPT: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analisa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,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explica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linha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a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linha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e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sugere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índices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, joins </a:t>
            </a:r>
            <a:r>
              <a:rPr sz="1400" b="0" i="1" dirty="0" err="1">
                <a:solidFill>
                  <a:srgbClr val="3498DB"/>
                </a:solidFill>
                <a:latin typeface="Calibri"/>
              </a:rPr>
              <a:t>otimizados</a:t>
            </a:r>
            <a:r>
              <a:rPr sz="1400" b="0" i="1" dirty="0">
                <a:solidFill>
                  <a:srgbClr val="3498DB"/>
                </a:solidFill>
                <a:latin typeface="Calibri"/>
              </a:rPr>
              <a:t> etc.</a:t>
            </a:r>
          </a:p>
          <a:p>
            <a:pPr>
              <a:spcBef>
                <a:spcPts val="100"/>
              </a:spcBef>
            </a:pPr>
            <a:endParaRPr sz="1400" b="0" i="1" dirty="0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 err="1">
                <a:solidFill>
                  <a:srgbClr val="1B3A5C"/>
                </a:solidFill>
                <a:latin typeface="Calibri"/>
              </a:rPr>
              <a:t>Limitações</a:t>
            </a:r>
            <a:r>
              <a:rPr sz="1600" b="1" dirty="0">
                <a:solidFill>
                  <a:srgbClr val="1B3A5C"/>
                </a:solidFill>
                <a:latin typeface="Calibri"/>
              </a:rPr>
              <a:t>:</a:t>
            </a:r>
          </a:p>
          <a:p>
            <a:pPr>
              <a:spcBef>
                <a:spcPts val="200"/>
              </a:spcBef>
            </a:pPr>
            <a:r>
              <a:rPr sz="1600" b="0" dirty="0">
                <a:solidFill>
                  <a:srgbClr val="4A4A4A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Não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tem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acesso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ao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seu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código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automaticamente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precisa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colar</a:t>
            </a:r>
            <a:r>
              <a:rPr lang="en-US" sz="1600" b="0" dirty="0">
                <a:solidFill>
                  <a:srgbClr val="4A4A4A"/>
                </a:solidFill>
                <a:latin typeface="Calibri"/>
              </a:rPr>
              <a:t> OU app local </a:t>
            </a:r>
            <a:r>
              <a:rPr lang="en-US" sz="1600" b="0" dirty="0" err="1">
                <a:solidFill>
                  <a:srgbClr val="4A4A4A"/>
                </a:solidFill>
                <a:latin typeface="Calibri"/>
              </a:rPr>
              <a:t>tem</a:t>
            </a:r>
            <a:r>
              <a:rPr lang="en-US"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lang="en-US" sz="1600" b="0" dirty="0" err="1">
                <a:solidFill>
                  <a:srgbClr val="4A4A4A"/>
                </a:solidFill>
                <a:latin typeface="Calibri"/>
              </a:rPr>
              <a:t>conexao</a:t>
            </a:r>
            <a:r>
              <a:rPr lang="en-US" sz="1600" b="0" dirty="0">
                <a:solidFill>
                  <a:srgbClr val="4A4A4A"/>
                </a:solidFill>
                <a:latin typeface="Calibri"/>
              </a:rPr>
              <a:t> com o </a:t>
            </a:r>
            <a:r>
              <a:rPr lang="en-US" sz="1600" b="0" dirty="0" err="1">
                <a:solidFill>
                  <a:srgbClr val="4A4A4A"/>
                </a:solidFill>
                <a:latin typeface="Calibri"/>
              </a:rPr>
              <a:t>VSCode</a:t>
            </a:r>
            <a:r>
              <a:rPr lang="en-US" sz="1600" b="0" dirty="0">
                <a:solidFill>
                  <a:srgbClr val="4A4A4A"/>
                </a:solidFill>
                <a:latin typeface="Calibri"/>
              </a:rPr>
              <a:t>)</a:t>
            </a:r>
            <a:endParaRPr sz="1600" b="0" dirty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 dirty="0">
                <a:solidFill>
                  <a:srgbClr val="4A4A4A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Não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executa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código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(a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menos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use o Code Interpreter)</a:t>
            </a:r>
          </a:p>
          <a:p>
            <a:pPr>
              <a:spcBef>
                <a:spcPts val="200"/>
              </a:spcBef>
            </a:pPr>
            <a:r>
              <a:rPr sz="1600" b="0" dirty="0">
                <a:solidFill>
                  <a:srgbClr val="4A4A4A"/>
                </a:solidFill>
                <a:latin typeface="Calibri"/>
              </a:rPr>
              <a:t>•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Respostas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podem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ficar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A4A4A"/>
                </a:solidFill>
                <a:latin typeface="Calibri"/>
              </a:rPr>
              <a:t>desatualizadas</a:t>
            </a:r>
            <a:endParaRPr sz="16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GitHub Copilot — Assistente dentro do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O que é?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Uma extensão do </a:t>
            </a:r>
            <a:r>
              <a:rPr sz="1600" b="1">
                <a:solidFill>
                  <a:srgbClr val="1B3A5C"/>
                </a:solidFill>
                <a:latin typeface="Calibri"/>
              </a:rPr>
              <a:t>VS Code</a:t>
            </a:r>
            <a:r>
              <a:rPr sz="1600" b="0">
                <a:solidFill>
                  <a:srgbClr val="4A4A4A"/>
                </a:solidFill>
                <a:latin typeface="Calibri"/>
              </a:rPr>
              <a:t> (e outros editores) que usa IA para sugerir código </a:t>
            </a:r>
            <a:r>
              <a:rPr sz="1600" b="1">
                <a:solidFill>
                  <a:srgbClr val="1B3A5C"/>
                </a:solidFill>
                <a:latin typeface="Calibri"/>
              </a:rPr>
              <a:t>em tempo real</a:t>
            </a:r>
            <a:r>
              <a:rPr sz="1600" b="0">
                <a:solidFill>
                  <a:srgbClr val="4A4A4A"/>
                </a:solidFill>
                <a:latin typeface="Calibri"/>
              </a:rPr>
              <a:t>, direto no editor.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Diferencial: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Funciona </a:t>
            </a:r>
            <a:r>
              <a:rPr sz="1600" b="1">
                <a:solidFill>
                  <a:srgbClr val="1B3A5C"/>
                </a:solidFill>
                <a:latin typeface="Calibri"/>
              </a:rPr>
              <a:t>enquanto você digita</a:t>
            </a:r>
            <a:r>
              <a:rPr sz="1600" b="0">
                <a:solidFill>
                  <a:srgbClr val="4A4A4A"/>
                </a:solidFill>
                <a:latin typeface="Calibri"/>
              </a:rPr>
              <a:t> — sem trocar de janela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Entende o </a:t>
            </a:r>
            <a:r>
              <a:rPr sz="1600" b="1">
                <a:solidFill>
                  <a:srgbClr val="1B3A5C"/>
                </a:solidFill>
                <a:latin typeface="Calibri"/>
              </a:rPr>
              <a:t>contexto do seu projeto</a:t>
            </a:r>
            <a:r>
              <a:rPr sz="1600" b="0">
                <a:solidFill>
                  <a:srgbClr val="4A4A4A"/>
                </a:solidFill>
                <a:latin typeface="Calibri"/>
              </a:rPr>
              <a:t> (arquivos abertos, linguagem, padrões)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Integração nativa com o </a:t>
            </a:r>
            <a:r>
              <a:rPr sz="1600" b="1">
                <a:solidFill>
                  <a:srgbClr val="1B3A5C"/>
                </a:solidFill>
                <a:latin typeface="Calibri"/>
              </a:rPr>
              <a:t>fluxo de trabalho</a:t>
            </a:r>
            <a:r>
              <a:rPr sz="1600" b="0">
                <a:solidFill>
                  <a:srgbClr val="4A4A4A"/>
                </a:solidFill>
                <a:latin typeface="Calibri"/>
              </a:rPr>
              <a:t> do desenvolvedor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GitHub Copilot — Assistente dentro do Editor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O que ele faz: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Autocomplete inteligente</a:t>
            </a:r>
            <a:r>
              <a:rPr sz="1600" b="0">
                <a:solidFill>
                  <a:srgbClr val="4A4A4A"/>
                </a:solidFill>
                <a:latin typeface="Calibri"/>
              </a:rPr>
              <a:t>: completa linhas e funções inteiras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Chat inline</a:t>
            </a:r>
            <a:r>
              <a:rPr sz="1600" b="0">
                <a:solidFill>
                  <a:srgbClr val="4A4A4A"/>
                </a:solidFill>
                <a:latin typeface="Calibri"/>
              </a:rPr>
              <a:t>: pergunte no editor e receba respostas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Comandos rápidos</a:t>
            </a:r>
            <a:r>
              <a:rPr sz="1600" b="0">
                <a:solidFill>
                  <a:srgbClr val="4A4A4A"/>
                </a:solidFill>
                <a:latin typeface="Calibri"/>
              </a:rPr>
              <a:t>: </a:t>
            </a:r>
            <a:r>
              <a:rPr sz="1400" b="0">
                <a:solidFill>
                  <a:srgbClr val="4A4A4A"/>
                </a:solidFill>
                <a:latin typeface="Consolas"/>
              </a:rPr>
              <a:t>/explain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/fix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/tests</a:t>
            </a:r>
            <a:r>
              <a:rPr sz="1600" b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>
                <a:solidFill>
                  <a:srgbClr val="4A4A4A"/>
                </a:solidFill>
                <a:latin typeface="Consolas"/>
              </a:rPr>
              <a:t>/doc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Agent Mode</a:t>
            </a:r>
            <a:r>
              <a:rPr sz="1600" b="0">
                <a:solidFill>
                  <a:srgbClr val="4A4A4A"/>
                </a:solidFill>
                <a:latin typeface="Calibri"/>
              </a:rPr>
              <a:t>: executa tarefas complexas de múltiplos passos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Foco desta aula: vamos aprender a usar o Copilot na prática!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Outras Ferramentas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Cursor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IDE completa baseada no VS Code, com IA integrada nativamente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Chat, autocomplete e edição multi-arquivo com IA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Ideal para quem quer IA como parte central do fluxo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GitHub Spark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Ferramenta para criar micro-aplicações rapidamente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Descreva o que quer em linguagem natural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Gera apps funcionais sem escrever código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Outras Ferramentas de IA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Lovable / Bolt.new / V0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Ferramentas para gerar </a:t>
            </a:r>
            <a:r>
              <a:rPr sz="1600" b="1">
                <a:solidFill>
                  <a:srgbClr val="1B3A5C"/>
                </a:solidFill>
                <a:latin typeface="Calibri"/>
              </a:rPr>
              <a:t>interfaces visuais</a:t>
            </a:r>
            <a:r>
              <a:rPr sz="1600" b="0">
                <a:solidFill>
                  <a:srgbClr val="4A4A4A"/>
                </a:solidFill>
                <a:latin typeface="Calibri"/>
              </a:rPr>
              <a:t> com IA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Descreva a tela e a IA cria o frontend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Ideal para </a:t>
            </a:r>
            <a:r>
              <a:rPr sz="1600" b="1">
                <a:solidFill>
                  <a:srgbClr val="1B3A5C"/>
                </a:solidFill>
                <a:latin typeface="Calibri"/>
              </a:rPr>
              <a:t>prototipação rápida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V0 (Vercel): gera componentes React/Next.js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Cada ferramenta tem seu ponto forte. O segredo é saber quando usar cada uma.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Dentro vs Fora da IDE — Quando usar cada abordagem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Critério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Fora da IDE (ChatGPT, Claude)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94320" y="1097280"/>
            <a:ext cx="362712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Dentro da IDE (Copilot)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Melhor para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Dúvidas conceituais, planejamento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4320" y="14782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Escrever código, refatorar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Contexto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Você precisa colar o código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4320" y="18084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Acessa seus arquivos automaticamente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Velocidade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Troca de janela, copia e cola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4320" y="21386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Sugestões em tempo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Fluxo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Interrompe o fluxo de trabalho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4320" y="24688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Integrado ao fluxo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Tarefas complexas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Explicações longas, arquitetura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4320" y="2799080"/>
            <a:ext cx="362712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Implementação, testes, debug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1">
                <a:solidFill>
                  <a:srgbClr val="1B3A5C"/>
                </a:solidFill>
                <a:latin typeface="Calibri"/>
              </a:rPr>
              <a:t>Aprendizado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Ótimo para entender conceitos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4320" y="3129280"/>
            <a:ext cx="362712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Ótimo para praticar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86480"/>
            <a:ext cx="1088136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Recomendação: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Planejou?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Use ChatGPT/Claude para pensar e estruturar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Codou?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Use Copilot para implementar e testar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Dúvida rápida?</a:t>
            </a:r>
            <a:r>
              <a:rPr sz="1500" b="0">
                <a:solidFill>
                  <a:srgbClr val="4A4A4A"/>
                </a:solidFill>
                <a:latin typeface="Calibri"/>
              </a:rPr>
              <a:t> → Copilot Chat no VS Code mesmo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Use as duas abordagens de forma complementar!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é o 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9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Seu assistente de programação com IA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GitHub Copilot é uma ferramenta criada pelo </a:t>
            </a:r>
            <a:r>
              <a:rPr sz="1500" b="1">
                <a:solidFill>
                  <a:srgbClr val="1B3A5C"/>
                </a:solidFill>
                <a:latin typeface="Calibri"/>
              </a:rPr>
              <a:t>GitHub</a:t>
            </a:r>
            <a:r>
              <a:rPr sz="1500" b="0">
                <a:solidFill>
                  <a:srgbClr val="4A4A4A"/>
                </a:solidFill>
                <a:latin typeface="Calibri"/>
              </a:rPr>
              <a:t> (Microsoft) que usa modelos de IA para ajudar desenvolvedores a escrever código mais rápido e com mais qualidade.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Como funciona:</a:t>
            </a:r>
          </a:p>
        </p:txBody>
      </p:sp>
      <p:sp>
        <p:nvSpPr>
          <p:cNvPr id="5" name="Oval 4"/>
          <p:cNvSpPr/>
          <p:nvPr/>
        </p:nvSpPr>
        <p:spPr>
          <a:xfrm>
            <a:off x="690880" y="2889262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680" y="2838462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Você escreve código ou comentários no VS Code</a:t>
            </a:r>
          </a:p>
        </p:txBody>
      </p:sp>
      <p:sp>
        <p:nvSpPr>
          <p:cNvPr id="7" name="Oval 6"/>
          <p:cNvSpPr/>
          <p:nvPr/>
        </p:nvSpPr>
        <p:spPr>
          <a:xfrm>
            <a:off x="690880" y="3321062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680" y="3270262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O Copilot </a:t>
            </a:r>
            <a:r>
              <a:rPr sz="1500" b="1">
                <a:solidFill>
                  <a:srgbClr val="1B3A5C"/>
                </a:solidFill>
                <a:latin typeface="Calibri"/>
              </a:rPr>
              <a:t>analisa o contexto</a:t>
            </a:r>
            <a:r>
              <a:rPr sz="1500" b="0">
                <a:solidFill>
                  <a:srgbClr val="4A4A4A"/>
                </a:solidFill>
                <a:latin typeface="Calibri"/>
              </a:rPr>
              <a:t> (arquivo atual, abas abertas, linguagem)</a:t>
            </a:r>
          </a:p>
        </p:txBody>
      </p:sp>
      <p:sp>
        <p:nvSpPr>
          <p:cNvPr id="9" name="Oval 8"/>
          <p:cNvSpPr/>
          <p:nvPr/>
        </p:nvSpPr>
        <p:spPr>
          <a:xfrm>
            <a:off x="690880" y="3752862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680" y="3702062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Ele </a:t>
            </a:r>
            <a:r>
              <a:rPr sz="1500" b="1">
                <a:solidFill>
                  <a:srgbClr val="1B3A5C"/>
                </a:solidFill>
                <a:latin typeface="Calibri"/>
              </a:rPr>
              <a:t>sugere</a:t>
            </a:r>
            <a:r>
              <a:rPr sz="1500" b="0">
                <a:solidFill>
                  <a:srgbClr val="4A4A4A"/>
                </a:solidFill>
                <a:latin typeface="Calibri"/>
              </a:rPr>
              <a:t> código em texto cinza (ghost text)</a:t>
            </a:r>
          </a:p>
        </p:txBody>
      </p:sp>
      <p:sp>
        <p:nvSpPr>
          <p:cNvPr id="11" name="Oval 10"/>
          <p:cNvSpPr/>
          <p:nvPr/>
        </p:nvSpPr>
        <p:spPr>
          <a:xfrm>
            <a:off x="690880" y="4184662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680" y="4133862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Você pressiona </a:t>
            </a:r>
            <a:r>
              <a:rPr sz="1300" b="0">
                <a:solidFill>
                  <a:srgbClr val="4A4A4A"/>
                </a:solidFill>
                <a:latin typeface="Consolas"/>
              </a:rPr>
              <a:t>Tab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aceitar ou continua digitando para ignorar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 que é o GitHub Copilot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Não é magia — é estatística!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Treinado com código open-source do GitHub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Usa modelos da OpenAI (GPT-4o, Claude e outros)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Quanto melhor o contexto que você dá, melhor a sugestão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Pense no Copilot como um programador júnior muito rápido: produz bastante, mas você precisa revisar tudo.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Plano Free: O que está incluso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GitHub Copilot Free — Disponível para todos!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036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Recurso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5036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Limite mensal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4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Completions (autocomplete)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884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2.000 por mês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14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Mensagens no Copilot 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214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50 por 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5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Modelos disponíveis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45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GPT-4o, Claude 3.5 Sonnet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75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Acesso ao Agent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875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Limitado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Plano Free: O que está incluso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Como ativar: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880" y="1503680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Tenha uma </a:t>
            </a:r>
            <a:r>
              <a:rPr sz="1500" b="1">
                <a:solidFill>
                  <a:srgbClr val="1B3A5C"/>
                </a:solidFill>
                <a:latin typeface="Calibri"/>
              </a:rPr>
              <a:t>conta no GitHub</a:t>
            </a:r>
            <a:r>
              <a:rPr sz="1500" b="0">
                <a:solidFill>
                  <a:srgbClr val="4A4A4A"/>
                </a:solidFill>
                <a:latin typeface="Calibri"/>
              </a:rPr>
              <a:t> (gratuita)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86280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880" y="1935480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Acesse [github.com/settings/copilot](https://github.com/settings/copilot)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18080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880" y="2367280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Ative o plano </a:t>
            </a:r>
            <a:r>
              <a:rPr sz="1500" b="1">
                <a:solidFill>
                  <a:srgbClr val="1B3A5C"/>
                </a:solidFill>
                <a:latin typeface="Calibri"/>
              </a:rPr>
              <a:t>Free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49880"/>
            <a:ext cx="304800" cy="304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1270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880" y="2799080"/>
            <a:ext cx="1039876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4A4A"/>
                </a:solidFill>
                <a:latin typeface="Calibri"/>
              </a:rPr>
              <a:t>Instale a extensão no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30880"/>
            <a:ext cx="10881360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Para estudantes: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GitHub Student Developer Pack</a:t>
            </a:r>
            <a:r>
              <a:rPr sz="1500" b="0">
                <a:solidFill>
                  <a:srgbClr val="4A4A4A"/>
                </a:solidFill>
                <a:latin typeface="Calibri"/>
              </a:rPr>
              <a:t>: Copilot </a:t>
            </a:r>
            <a:r>
              <a:rPr sz="1500" b="1">
                <a:solidFill>
                  <a:srgbClr val="1B3A5C"/>
                </a:solidFill>
                <a:latin typeface="Calibri"/>
              </a:rPr>
              <a:t>Pro gratuito</a:t>
            </a:r>
            <a:r>
              <a:rPr sz="1500" b="0">
                <a:solidFill>
                  <a:srgbClr val="4A4A4A"/>
                </a:solidFill>
                <a:latin typeface="Calibri"/>
              </a:rPr>
              <a:t>!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Basta comprovar vínculo com instituição de ensino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2.000 completions é suficiente para aprender e praticar bastante!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Como Instalar: Passo a Passo com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Pré-requisitos: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VS Code instalado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Conta no GitHub criada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Plano Copilot ativado (Free ou Pro)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Como Instalar: Passo a Passo com VS Code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46807" y="1097280"/>
            <a:ext cx="2286000" cy="685800"/>
          </a:xfrm>
          <a:prstGeom prst="roundRect">
            <a:avLst/>
          </a:prstGeom>
          <a:solidFill>
            <a:srgbClr val="5DA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Abra o **VS Code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632807" y="1268730"/>
            <a:ext cx="320040" cy="34290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52847" y="1097280"/>
            <a:ext cx="2286000" cy="685800"/>
          </a:xfrm>
          <a:prstGeom prst="roundRect">
            <a:avLst/>
          </a:prstGeom>
          <a:solidFill>
            <a:srgbClr val="3C7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Pesquise **"GitHub Copilot"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238847" y="1268730"/>
            <a:ext cx="320040" cy="34290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58887" y="1097280"/>
            <a:ext cx="2286000" cy="6858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Confirme as permissões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6280"/>
            <a:ext cx="10881360" cy="414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Instalação: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1. Abra o </a:t>
            </a:r>
            <a:r>
              <a:rPr sz="1600" b="1">
                <a:solidFill>
                  <a:srgbClr val="1B3A5C"/>
                </a:solidFill>
                <a:latin typeface="Calibri"/>
              </a:rPr>
              <a:t>VS Code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2. Vá em </a:t>
            </a:r>
            <a:r>
              <a:rPr sz="1600" b="1">
                <a:solidFill>
                  <a:srgbClr val="1B3A5C"/>
                </a:solidFill>
                <a:latin typeface="Calibri"/>
              </a:rPr>
              <a:t>Extensions</a:t>
            </a:r>
            <a:r>
              <a:rPr sz="1600" b="0">
                <a:solidFill>
                  <a:srgbClr val="4A4A4A"/>
                </a:solidFill>
                <a:latin typeface="Calibri"/>
              </a:rPr>
              <a:t> (Ctrl+Shift+X)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3. Pesquise </a:t>
            </a:r>
            <a:r>
              <a:rPr sz="1600" b="1">
                <a:solidFill>
                  <a:srgbClr val="1B3A5C"/>
                </a:solidFill>
                <a:latin typeface="Calibri"/>
              </a:rPr>
              <a:t>"GitHub Copilot"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4. Clique em </a:t>
            </a:r>
            <a:r>
              <a:rPr sz="1600" b="1">
                <a:solidFill>
                  <a:srgbClr val="1B3A5C"/>
                </a:solidFill>
                <a:latin typeface="Calibri"/>
              </a:rPr>
              <a:t>Install</a:t>
            </a:r>
            <a:r>
              <a:rPr sz="1600" b="0">
                <a:solidFill>
                  <a:srgbClr val="4A4A4A"/>
                </a:solidFill>
                <a:latin typeface="Calibri"/>
              </a:rPr>
              <a:t> na extensão oficial (ícone do Copilot)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5. Faça </a:t>
            </a:r>
            <a:r>
              <a:rPr sz="1600" b="1">
                <a:solidFill>
                  <a:srgbClr val="1B3A5C"/>
                </a:solidFill>
                <a:latin typeface="Calibri"/>
              </a:rPr>
              <a:t>login</a:t>
            </a:r>
            <a:r>
              <a:rPr sz="1600" b="0">
                <a:solidFill>
                  <a:srgbClr val="4A4A4A"/>
                </a:solidFill>
                <a:latin typeface="Calibri"/>
              </a:rPr>
              <a:t> com sua conta do GitHub quando solicitado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6. Confirme as permissões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Verificando se funcionou: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Ícone do Copilot aparece na </a:t>
            </a:r>
            <a:r>
              <a:rPr sz="1600" b="1">
                <a:solidFill>
                  <a:srgbClr val="1B3A5C"/>
                </a:solidFill>
                <a:latin typeface="Calibri"/>
              </a:rPr>
              <a:t>barra de status</a:t>
            </a:r>
            <a:r>
              <a:rPr sz="1600" b="0">
                <a:solidFill>
                  <a:srgbClr val="4A4A4A"/>
                </a:solidFill>
                <a:latin typeface="Calibri"/>
              </a:rPr>
              <a:t> (canto inferior)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Abra um arquivo </a:t>
            </a:r>
            <a:r>
              <a:rPr sz="1400" b="0">
                <a:solidFill>
                  <a:srgbClr val="4A4A4A"/>
                </a:solidFill>
                <a:latin typeface="Consolas"/>
              </a:rPr>
              <a:t>.py</a:t>
            </a:r>
            <a:r>
              <a:rPr sz="1600" b="0">
                <a:solidFill>
                  <a:srgbClr val="4A4A4A"/>
                </a:solidFill>
                <a:latin typeface="Calibri"/>
              </a:rPr>
              <a:t> e comece a digitar — sugestões devem aparecer em cinza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[O instrutor mostrará cada passo ao vivo na tela]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Features Principais do 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Autocomplete (Ghost Text)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Sugestões aparecem em </a:t>
            </a:r>
            <a:r>
              <a:rPr sz="1500" b="1">
                <a:solidFill>
                  <a:srgbClr val="1B3A5C"/>
                </a:solidFill>
                <a:latin typeface="Calibri"/>
              </a:rPr>
              <a:t>texto cinza</a:t>
            </a:r>
            <a:r>
              <a:rPr sz="1500" b="0">
                <a:solidFill>
                  <a:srgbClr val="4A4A4A"/>
                </a:solidFill>
                <a:latin typeface="Calibri"/>
              </a:rPr>
              <a:t> enquanto você digita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</a:t>
            </a:r>
            <a:r>
              <a:rPr sz="1300" b="0">
                <a:solidFill>
                  <a:srgbClr val="4A4A4A"/>
                </a:solidFill>
                <a:latin typeface="Consolas"/>
              </a:rPr>
              <a:t>Tab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aceitar | </a:t>
            </a:r>
            <a:r>
              <a:rPr sz="1300" b="0">
                <a:solidFill>
                  <a:srgbClr val="4A4A4A"/>
                </a:solidFill>
                <a:latin typeface="Consolas"/>
              </a:rPr>
              <a:t>Esc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rejeitar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</a:t>
            </a:r>
            <a:r>
              <a:rPr sz="1300" b="0">
                <a:solidFill>
                  <a:srgbClr val="4A4A4A"/>
                </a:solidFill>
                <a:latin typeface="Consolas"/>
              </a:rPr>
              <a:t>Alt+]</a:t>
            </a:r>
            <a:r>
              <a:rPr sz="1500" b="0">
                <a:solidFill>
                  <a:srgbClr val="4A4A4A"/>
                </a:solidFill>
                <a:latin typeface="Calibri"/>
              </a:rPr>
              <a:t> e </a:t>
            </a:r>
            <a:r>
              <a:rPr sz="1300" b="0">
                <a:solidFill>
                  <a:srgbClr val="4A4A4A"/>
                </a:solidFill>
                <a:latin typeface="Consolas"/>
              </a:rPr>
              <a:t>Alt+[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navegar entre sugestões alternativas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Copilot Chat (Ctrl+Shift+I)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Chat integrado no VS Code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Pergunte em </a:t>
            </a:r>
            <a:r>
              <a:rPr sz="1500" b="1">
                <a:solidFill>
                  <a:srgbClr val="1B3A5C"/>
                </a:solidFill>
                <a:latin typeface="Calibri"/>
              </a:rPr>
              <a:t>português</a:t>
            </a:r>
            <a:r>
              <a:rPr sz="1500" b="0">
                <a:solidFill>
                  <a:srgbClr val="4A4A4A"/>
                </a:solidFill>
                <a:latin typeface="Calibri"/>
              </a:rPr>
              <a:t> sobre código, erros, conceitos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Features Principais do GitHub Copilot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Comandos rápidos no Chat: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36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5036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 que faz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4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/explain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884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Explica o código selecionado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14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/fix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214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Sugere correção para erros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5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45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 testes para o código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75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/doc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875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 documentação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2480"/>
            <a:ext cx="1088136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Agent Mode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O Copilot executa tarefas de múltiplos passos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Pode criar arquivos, executar comandos, corrigir erros em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Boas Práticas de Prompting para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1. Pedidos pequenos e específicos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Ruim: "Faz o sistema bancário"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Bom: "Função que calcula juros compostos dado capital, taxa e período"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80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2. Instruções claras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514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2768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Ruim: "Processa os dados"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Bom: "Leia o arquivo CSV, filtre linhas onde saldo &lt; 0, ordene por nome"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Boas Práticas de Prompting para Copilot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3. Especifique o formato de saída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Retorne um dicionário com as chaves: 'total', 'media', 'maior', 'menor'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092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4. Dê contexto com comentários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14320"/>
            <a:ext cx="10881360" cy="876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90520"/>
            <a:ext cx="10515600" cy="723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Este módulo trata de operações bancárias para contas correntes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Todos os valores monetários são em BRL (reais)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Taxas devem ser expressas em porcentagem (ex: 2.5 = 2.5%)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222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Lembre-se: o Copilot lê seus comentários como instruções. Comente bem!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Metodologia: Copilot Assisted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5 passos para usar IA de forma eficiente: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876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723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┌──────────┐ ┌──────────┐ ┌──────────┐ ┌──────────┐ ┌──────────┐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│ PENSAR │ → │ DIVIDIR │ → │ PEDIR │ → │ REVISAR │ → │ TESTAR 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└──────────┘ └──────────┘ └──────────┘ └──────────┘ └──────────┘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8580"/>
            <a:ext cx="10881360" cy="140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</a:t>
            </a:r>
            <a:r>
              <a:rPr sz="1500" b="1">
                <a:solidFill>
                  <a:srgbClr val="1B3A5C"/>
                </a:solidFill>
                <a:latin typeface="Calibri"/>
              </a:rPr>
              <a:t> Pensar</a:t>
            </a:r>
            <a:r>
              <a:rPr sz="1500" b="0">
                <a:solidFill>
                  <a:srgbClr val="4A4A4A"/>
                </a:solidFill>
                <a:latin typeface="Calibri"/>
              </a:rPr>
              <a:t>: Entenda o problema antes de pedir ajuda à IA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</a:t>
            </a:r>
            <a:r>
              <a:rPr sz="1500" b="1">
                <a:solidFill>
                  <a:srgbClr val="1B3A5C"/>
                </a:solidFill>
                <a:latin typeface="Calibri"/>
              </a:rPr>
              <a:t> Dividir</a:t>
            </a:r>
            <a:r>
              <a:rPr sz="1500" b="0">
                <a:solidFill>
                  <a:srgbClr val="4A4A4A"/>
                </a:solidFill>
                <a:latin typeface="Calibri"/>
              </a:rPr>
              <a:t>: Quebre em tarefas menores (funções, módulos, etapas)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</a:t>
            </a:r>
            <a:r>
              <a:rPr sz="1500" b="1">
                <a:solidFill>
                  <a:srgbClr val="1B3A5C"/>
                </a:solidFill>
                <a:latin typeface="Calibri"/>
              </a:rPr>
              <a:t> Pedir</a:t>
            </a:r>
            <a:r>
              <a:rPr sz="1500" b="0">
                <a:solidFill>
                  <a:srgbClr val="4A4A4A"/>
                </a:solidFill>
                <a:latin typeface="Calibri"/>
              </a:rPr>
              <a:t>: Escreva prompts claros e específicos para cada parte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</a:t>
            </a:r>
            <a:r>
              <a:rPr sz="1500" b="1">
                <a:solidFill>
                  <a:srgbClr val="1B3A5C"/>
                </a:solidFill>
                <a:latin typeface="Calibri"/>
              </a:rPr>
              <a:t> Revisar</a:t>
            </a:r>
            <a:r>
              <a:rPr sz="1500" b="0">
                <a:solidFill>
                  <a:srgbClr val="4A4A4A"/>
                </a:solidFill>
                <a:latin typeface="Calibri"/>
              </a:rPr>
              <a:t>: Leia o código gerado — ele faz o que você esperava?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5. </a:t>
            </a:r>
            <a:r>
              <a:rPr sz="1500" b="1">
                <a:solidFill>
                  <a:srgbClr val="1B3A5C"/>
                </a:solidFill>
                <a:latin typeface="Calibri"/>
              </a:rPr>
              <a:t> Testar</a:t>
            </a:r>
            <a:r>
              <a:rPr sz="1500" b="0">
                <a:solidFill>
                  <a:srgbClr val="4A4A4A"/>
                </a:solidFill>
                <a:latin typeface="Calibri"/>
              </a:rPr>
              <a:t>: Execute, teste com dados reais e de borda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Metodologia: Copilot Assisted Development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Por que funciona: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Evita o erro de pedir "tudo de uma vez"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Cada pedaço é mais fácil de revisar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Bugs ficam isolados e mais fáceis de encontrar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"Não peça um sistema. Peça uma função por vez."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Hora da Demo!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`demo01_hello_copilot.py`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vamos fazer: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Criar um arquivo Python do zero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Escrever um comentário descrevendo o que queremos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Ver o Copilot sugerir o código automaticamente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4. Aceitar, ajustar e executar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Hora da Demo!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observar: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Como as sugestões aparecem em </a:t>
            </a:r>
            <a:r>
              <a:rPr sz="1500" b="1">
                <a:solidFill>
                  <a:srgbClr val="1B3A5C"/>
                </a:solidFill>
                <a:latin typeface="Calibri"/>
              </a:rPr>
              <a:t>texto cinza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Como o </a:t>
            </a:r>
            <a:r>
              <a:rPr sz="1500" b="1">
                <a:solidFill>
                  <a:srgbClr val="1B3A5C"/>
                </a:solidFill>
                <a:latin typeface="Calibri"/>
              </a:rPr>
              <a:t>nome do arquivo</a:t>
            </a:r>
            <a:r>
              <a:rPr sz="1500" b="0">
                <a:solidFill>
                  <a:srgbClr val="4A4A4A"/>
                </a:solidFill>
                <a:latin typeface="Calibri"/>
              </a:rPr>
              <a:t> influencia as sugestões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Como </a:t>
            </a:r>
            <a:r>
              <a:rPr sz="1500" b="1">
                <a:solidFill>
                  <a:srgbClr val="1B3A5C"/>
                </a:solidFill>
                <a:latin typeface="Calibri"/>
              </a:rPr>
              <a:t>comentários</a:t>
            </a:r>
            <a:r>
              <a:rPr sz="1500" b="0">
                <a:solidFill>
                  <a:srgbClr val="4A4A4A"/>
                </a:solidFill>
                <a:latin typeface="Calibri"/>
              </a:rPr>
              <a:t> guiam a IA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Como aceitar (</a:t>
            </a:r>
            <a:r>
              <a:rPr sz="1300" b="0">
                <a:solidFill>
                  <a:srgbClr val="4A4A4A"/>
                </a:solidFill>
                <a:latin typeface="Consolas"/>
              </a:rPr>
              <a:t>Tab</a:t>
            </a:r>
            <a:r>
              <a:rPr sz="1500" b="0">
                <a:solidFill>
                  <a:srgbClr val="4A4A4A"/>
                </a:solidFill>
                <a:latin typeface="Calibri"/>
              </a:rPr>
              <a:t>) e rejeitar (</a:t>
            </a:r>
            <a:r>
              <a:rPr sz="1300" b="0">
                <a:solidFill>
                  <a:srgbClr val="4A4A4A"/>
                </a:solidFill>
                <a:latin typeface="Consolas"/>
              </a:rPr>
              <a:t>Esc</a:t>
            </a:r>
            <a:r>
              <a:rPr sz="1500" b="0">
                <a:solidFill>
                  <a:srgbClr val="4A4A4A"/>
                </a:solidFill>
                <a:latin typeface="Calibri"/>
              </a:rPr>
              <a:t>) sugestões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 que será demonstrado: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31546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3230880"/>
            <a:ext cx="1057656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Programa que pede o nome do usuário e exibe uma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saudação personalizada com a data e hora atual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420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Acompanhe a tela do instrutor!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Por que Python para Automação?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Python é a linguagem ideal para automação porque: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Sintaxe simples</a:t>
            </a:r>
            <a:r>
              <a:rPr sz="1500" b="0">
                <a:solidFill>
                  <a:srgbClr val="4A4A4A"/>
                </a:solidFill>
                <a:latin typeface="Calibri"/>
              </a:rPr>
              <a:t>: parece pseudocódigo, fácil de ler e escrever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Bibliotecas poderosas</a:t>
            </a:r>
            <a:r>
              <a:rPr sz="1500" b="0">
                <a:solidFill>
                  <a:srgbClr val="4A4A4A"/>
                </a:solidFill>
                <a:latin typeface="Calibri"/>
              </a:rPr>
              <a:t>: </a:t>
            </a:r>
            <a:r>
              <a:rPr sz="1300" b="0">
                <a:solidFill>
                  <a:srgbClr val="4A4A4A"/>
                </a:solidFill>
                <a:latin typeface="Consolas"/>
              </a:rPr>
              <a:t>csv</a:t>
            </a:r>
            <a:r>
              <a:rPr sz="1500" b="0">
                <a:solidFill>
                  <a:srgbClr val="4A4A4A"/>
                </a:solidFill>
                <a:latin typeface="Calibri"/>
              </a:rPr>
              <a:t>, </a:t>
            </a:r>
            <a:r>
              <a:rPr sz="1300" b="0">
                <a:solidFill>
                  <a:srgbClr val="4A4A4A"/>
                </a:solidFill>
                <a:latin typeface="Consolas"/>
              </a:rPr>
              <a:t>pandas</a:t>
            </a:r>
            <a:r>
              <a:rPr sz="1500" b="0">
                <a:solidFill>
                  <a:srgbClr val="4A4A4A"/>
                </a:solidFill>
                <a:latin typeface="Calibri"/>
              </a:rPr>
              <a:t>, </a:t>
            </a:r>
            <a:r>
              <a:rPr sz="1300" b="0">
                <a:solidFill>
                  <a:srgbClr val="4A4A4A"/>
                </a:solidFill>
                <a:latin typeface="Consolas"/>
              </a:rPr>
              <a:t>openpyxl</a:t>
            </a:r>
            <a:r>
              <a:rPr sz="1500" b="0">
                <a:solidFill>
                  <a:srgbClr val="4A4A4A"/>
                </a:solidFill>
                <a:latin typeface="Calibri"/>
              </a:rPr>
              <a:t>, </a:t>
            </a:r>
            <a:r>
              <a:rPr sz="1300" b="0">
                <a:solidFill>
                  <a:srgbClr val="4A4A4A"/>
                </a:solidFill>
                <a:latin typeface="Consolas"/>
              </a:rPr>
              <a:t>os</a:t>
            </a:r>
            <a:r>
              <a:rPr sz="1500" b="0">
                <a:solidFill>
                  <a:srgbClr val="4A4A4A"/>
                </a:solidFill>
                <a:latin typeface="Calibri"/>
              </a:rPr>
              <a:t>, </a:t>
            </a:r>
            <a:r>
              <a:rPr sz="1300" b="0">
                <a:solidFill>
                  <a:srgbClr val="4A4A4A"/>
                </a:solidFill>
                <a:latin typeface="Consolas"/>
              </a:rPr>
              <a:t>json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Produtividade</a:t>
            </a:r>
            <a:r>
              <a:rPr sz="1500" b="0">
                <a:solidFill>
                  <a:srgbClr val="4A4A4A"/>
                </a:solidFill>
                <a:latin typeface="Calibri"/>
              </a:rPr>
              <a:t>: menos código para fazer mais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IA adora Python</a:t>
            </a:r>
            <a:r>
              <a:rPr sz="1500" b="0">
                <a:solidFill>
                  <a:srgbClr val="4A4A4A"/>
                </a:solidFill>
                <a:latin typeface="Calibri"/>
              </a:rPr>
              <a:t>: é a linguagem com mais exemplos de treinamento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Por que Python para Automação?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Exemplos de automação no dia a dia bancário: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036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Tarefa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503680"/>
            <a:ext cx="5440680" cy="381000"/>
          </a:xfrm>
          <a:prstGeom prst="rect">
            <a:avLst/>
          </a:prstGeom>
          <a:solidFill>
            <a:srgbClr val="1B3A5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Automação com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84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Abrir planilha, filtrar 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846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Script lê CSV e filtra automaticamente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14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Conferir saldos um por 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2148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Loop valida todos em segundos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45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Gerar relatório mensal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545080"/>
            <a:ext cx="5440680" cy="330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Script gera relatório formatado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75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Enviar e-mails de cobrança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875280"/>
            <a:ext cx="5440680" cy="330200"/>
          </a:xfrm>
          <a:prstGeom prst="rect">
            <a:avLst/>
          </a:prstGeom>
          <a:solidFill>
            <a:srgbClr val="F8F8F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Automação envia para todos os inadimplentes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108960"/>
            <a:ext cx="10881360" cy="1638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85160"/>
            <a:ext cx="10515600" cy="148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Com 5 linhas de Python você processa o que levaria horas manualmente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import 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with open('clientes.csv') as f: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for cliente in csv.DictReader(f):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if float(cliente['saldo']) &lt; 0: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        print(f"Alerta: {cliente['nome']} - Saldo: {cliente['saldo']}")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Leitura de Arquivos CSV com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é CSV?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Comma-Separated Values</a:t>
            </a:r>
            <a:r>
              <a:rPr sz="1500" b="0">
                <a:solidFill>
                  <a:srgbClr val="4A4A4A"/>
                </a:solidFill>
                <a:latin typeface="Calibri"/>
              </a:rPr>
              <a:t> — arquivo de texto simples onde cada linha é um registro e as colunas são separadas por vírgula (ou ponto e vírgula).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 de arquivo `clientes.csv`: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89480"/>
            <a:ext cx="10881360" cy="1257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65680"/>
            <a:ext cx="10515600" cy="1104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nome,conta,saldo,tipo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Ana Silva,1001,15000.50,corrente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João Santos,1002,-500.00,corrente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Maria Oliveira,1003,8200.00,poupanca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Carlos Lima,1004,-1200.75,corrente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Leitura de Arquivos CSV com Python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Lendo com Python: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971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81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import csv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def ler_clientes(caminho_arquivo):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"""Lê um arquivo CSV e retorna uma lista de dicionários."""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clientes = []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with open(caminho_arquivo, encoding='utf-8') as arquivo: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leitor = csv.DictReader(arquivo)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for linha in leitor: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linha['saldo'] = float(linha['saldo'])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        clientes.append(linha)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return clientes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clientes = ler_clientes('clientes.csv')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print(f"Total de clientes: {len(clientes)}")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Leitura de Arquivos CSV com Python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csv.DictReader transforma cada linha em um dicionário — muito prático!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Manipulação de Listas e Dicionários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Cada cliente é um dicionário: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2209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cliente =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'nome': 'Ana Silva',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'conta': '1001',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'saldo': 15000.50,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    'tipo': 'corrente'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Acessando valores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print(cliente['nome']) # Ana Silva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print(cliente['saldo']) # 15000.50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Manipulação de Listas e Dicionários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Operações comuns com listas de clientes: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30680"/>
            <a:ext cx="10881360" cy="35433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6880"/>
            <a:ext cx="10515600" cy="3390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Filtrar clientes com saldo negativo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inadimplentes = [c for c in clientes if c['saldo'] &lt; 0]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Calcular saldo total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saldo_total = sum(c['saldo'] for c in clientes)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Encontrar maior saldo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maior_saldo = max(clientes, key=lambda c: c['saldo'])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Agrupar por tipo de conta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from collections import defaultdict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por_tipo = defaultdict(list)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for c in clientes: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    por_tipo[c['tipo']].append(c)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1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# Ordenar por nome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A4A4A"/>
                </a:solidFill>
                <a:latin typeface="Consolas"/>
              </a:rPr>
              <a:t>ordenados = sorted(clientes, key=lambda c: c['nome'])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Manipulação de Listas e Dicionários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Esses padrões aparecem constantemente em automação bancária!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Ler clientes.csv e filtrar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`demo02_ler_csv.py`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vamos fazer: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Usar o Copilot para escrever um script que lê </a:t>
            </a:r>
            <a:r>
              <a:rPr sz="1300" b="0">
                <a:solidFill>
                  <a:srgbClr val="4A4A4A"/>
                </a:solidFill>
                <a:latin typeface="Consolas"/>
              </a:rPr>
              <a:t>clientes.csv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Filtrar clientes com saldo negativo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Exibir um resumo formatado no terminal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Prompts que usaremos no Copilot: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54680"/>
            <a:ext cx="10881360" cy="1066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3230880"/>
            <a:ext cx="1057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Leia o arquivo clientes.csv da pasta dados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Filtre os clientes com saldo negativo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Exiba: nome, conta e saldo de cada inadimplente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No final, mostre o total de inadimplentes e a soma dos saldos negativos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Ler clientes.csv e filtrar dados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Resultado esperado: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0880"/>
            <a:ext cx="10881360" cy="1447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2037080"/>
            <a:ext cx="10576560" cy="129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=== RELATÓRIO DE INADIMPLENTES ===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Nome: João Santos | Conta: 1002 | Saldo: R$ -500.00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Nome: Carlos Lima | Conta: 1004 | Saldo: R$ -1.200,75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sz="1200" b="0">
              <a:solidFill>
                <a:srgbClr val="4A4A4A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Total de inadimplentes: 2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Soma dos saldos negativos: R$ -1.700,75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10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Acompanhe: vamos escrever prompts e ver o Copilot gerar o código!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Gerar relatório de transações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3498DB"/>
                </a:solidFill>
                <a:latin typeface="Calibri"/>
              </a:rPr>
              <a:t>`demo03_relatorio.py`</a:t>
            </a:r>
          </a:p>
          <a:p>
            <a:pPr>
              <a:spcBef>
                <a:spcPts val="100"/>
              </a:spcBef>
            </a:pPr>
            <a:endParaRPr sz="17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O que vamos fazer: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1. Ler dados de clientes e transações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2. Cruzar informações entre arquivos CSV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3. Gerar um relatório completo no terminal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Conceitos aplicados: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Leitura de múltiplos CSVs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Junção de dados (similar a JOIN em SQL)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Formatação de valores monetários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Cálculos agregados (soma, média, contagem)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Gerar relatório de transações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Exemplo de saída esperada: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0880"/>
            <a:ext cx="1088136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480" y="2037080"/>
            <a:ext cx="1057656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╔══════════════════════════════════════════╗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║ RELATÓRIO DE TRANSAÇÕES - 2024 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╠══════════════════════════════════════════╣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║ Total de transações: 150 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║ Volume total: R$ 245.890,00 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║ Ticket médio: R$ 1.639,27 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║ Transação mais alta: R$ 15.000,00 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╚══════════════════════════════════════════╝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91280"/>
            <a:ext cx="1088136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Vamos construir isso passo a passo com o Copilot!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Lab Prático — Instruções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3498DB"/>
                </a:solidFill>
                <a:latin typeface="Calibri"/>
              </a:rPr>
              <a:t>Exercício: Análise de Contas Bancárias</a:t>
            </a:r>
          </a:p>
          <a:p>
            <a:pPr>
              <a:spcBef>
                <a:spcPts val="100"/>
              </a:spcBef>
            </a:pPr>
            <a:endParaRPr sz="1800" b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Objetivo: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Usando Python e o GitHub Copilot, crie um script que: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1. </a:t>
            </a:r>
            <a:r>
              <a:rPr sz="1600" b="1">
                <a:solidFill>
                  <a:srgbClr val="1B3A5C"/>
                </a:solidFill>
                <a:latin typeface="Calibri"/>
              </a:rPr>
              <a:t>Leia</a:t>
            </a:r>
            <a:r>
              <a:rPr sz="1600" b="0">
                <a:solidFill>
                  <a:srgbClr val="4A4A4A"/>
                </a:solidFill>
                <a:latin typeface="Calibri"/>
              </a:rPr>
              <a:t> o arquivo </a:t>
            </a:r>
            <a:r>
              <a:rPr sz="1400" b="0">
                <a:solidFill>
                  <a:srgbClr val="4A4A4A"/>
                </a:solidFill>
                <a:latin typeface="Consolas"/>
              </a:rPr>
              <a:t>dados/clientes.csv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2. </a:t>
            </a:r>
            <a:r>
              <a:rPr sz="1600" b="1">
                <a:solidFill>
                  <a:srgbClr val="1B3A5C"/>
                </a:solidFill>
                <a:latin typeface="Calibri"/>
              </a:rPr>
              <a:t>Calcule</a:t>
            </a:r>
            <a:r>
              <a:rPr sz="1600" b="0">
                <a:solidFill>
                  <a:srgbClr val="4A4A4A"/>
                </a:solidFill>
                <a:latin typeface="Calibri"/>
              </a:rPr>
              <a:t> as seguintes métricas: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Saldo total de todos os clientes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Saldo médio por tipo de conta (corrente vs poupança)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4A4A4A"/>
                </a:solidFill>
                <a:latin typeface="Calibri"/>
              </a:rPr>
              <a:t>  ▸ Quantidade de clientes com saldo acima de R$ 10.000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3. </a:t>
            </a:r>
            <a:r>
              <a:rPr sz="1600" b="1">
                <a:solidFill>
                  <a:srgbClr val="1B3A5C"/>
                </a:solidFill>
                <a:latin typeface="Calibri"/>
              </a:rPr>
              <a:t>Filtre</a:t>
            </a:r>
            <a:r>
              <a:rPr sz="1600" b="0">
                <a:solidFill>
                  <a:srgbClr val="4A4A4A"/>
                </a:solidFill>
                <a:latin typeface="Calibri"/>
              </a:rPr>
              <a:t> e exiba os clientes com saldo negativo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4. </a:t>
            </a:r>
            <a:r>
              <a:rPr sz="1600" b="1">
                <a:solidFill>
                  <a:srgbClr val="1B3A5C"/>
                </a:solidFill>
                <a:latin typeface="Calibri"/>
              </a:rPr>
              <a:t>Gere</a:t>
            </a:r>
            <a:r>
              <a:rPr sz="1600" b="0">
                <a:solidFill>
                  <a:srgbClr val="4A4A4A"/>
                </a:solidFill>
                <a:latin typeface="Calibri"/>
              </a:rPr>
              <a:t> um resumo formatado no terminal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Lab Prático — Instruções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Regras: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Use o Copilot Chat e autocomplete para ajudar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Escreva </a:t>
            </a:r>
            <a:r>
              <a:rPr sz="1600" b="1">
                <a:solidFill>
                  <a:srgbClr val="1B3A5C"/>
                </a:solidFill>
                <a:latin typeface="Calibri"/>
              </a:rPr>
              <a:t>comentários primeiro</a:t>
            </a:r>
            <a:r>
              <a:rPr sz="1600" b="0">
                <a:solidFill>
                  <a:srgbClr val="4A4A4A"/>
                </a:solidFill>
                <a:latin typeface="Calibri"/>
              </a:rPr>
              <a:t>, depois deixe o Copilot completar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Revise o código gerado antes de executar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Não copie código pronto — use a IA como assistente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Tempo: 25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Lab Prático — Dicas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Como usar o Copilot para resolver: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Passo 1</a:t>
            </a:r>
            <a:r>
              <a:rPr sz="1500" b="0">
                <a:solidFill>
                  <a:srgbClr val="4A4A4A"/>
                </a:solidFill>
                <a:latin typeface="Calibri"/>
              </a:rPr>
              <a:t>: Comece com um comentário de alto nível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10080"/>
            <a:ext cx="1088136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86280"/>
            <a:ext cx="105156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Script de análise de contas bancárias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Lê clientes.csv e gera relatório com métricas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88136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Passo 2</a:t>
            </a:r>
            <a:r>
              <a:rPr sz="1500" b="0">
                <a:solidFill>
                  <a:srgbClr val="4A4A4A"/>
                </a:solidFill>
                <a:latin typeface="Calibri"/>
              </a:rPr>
              <a:t>: Peça uma função por vez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30880"/>
            <a:ext cx="108813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07080"/>
            <a:ext cx="1051560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A4A4A"/>
                </a:solidFill>
                <a:latin typeface="Consolas"/>
              </a:rPr>
              <a:t># Função que lê o CSV e retorna lista de dicionários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1120"/>
            <a:ext cx="10881360" cy="89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Passo 3</a:t>
            </a:r>
            <a:r>
              <a:rPr sz="1500" b="0">
                <a:solidFill>
                  <a:srgbClr val="4A4A4A"/>
                </a:solidFill>
                <a:latin typeface="Calibri"/>
              </a:rPr>
              <a:t>: Use o Copilot Chat para dúvidas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"Como calculo a média de saldos agrupado por tipo de conta?"</a:t>
            </a:r>
          </a:p>
          <a:p>
            <a:pPr>
              <a:spcBef>
                <a:spcPts val="100"/>
              </a:spcBef>
            </a:pPr>
            <a:endParaRPr sz="1300" b="0" i="1">
              <a:solidFill>
                <a:srgbClr val="3498DB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Passo 4</a:t>
            </a:r>
            <a:r>
              <a:rPr sz="1500" b="0">
                <a:solidFill>
                  <a:srgbClr val="4A4A4A"/>
                </a:solidFill>
                <a:latin typeface="Calibri"/>
              </a:rPr>
              <a:t>: Se travar, use </a:t>
            </a:r>
            <a:r>
              <a:rPr sz="1300" b="0">
                <a:solidFill>
                  <a:srgbClr val="4A4A4A"/>
                </a:solidFill>
                <a:latin typeface="Consolas"/>
              </a:rPr>
              <a:t>/explain</a:t>
            </a:r>
            <a:r>
              <a:rPr sz="1500" b="0">
                <a:solidFill>
                  <a:srgbClr val="4A4A4A"/>
                </a:solidFill>
                <a:latin typeface="Calibri"/>
              </a:rPr>
              <a:t> no código existente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Passo 5</a:t>
            </a:r>
            <a:r>
              <a:rPr sz="1500" b="0">
                <a:solidFill>
                  <a:srgbClr val="4A4A4A"/>
                </a:solidFill>
                <a:latin typeface="Calibri"/>
              </a:rPr>
              <a:t>: Teste com os dados fornecidos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A5C"/>
                </a:solidFill>
                <a:latin typeface="Calibri"/>
              </a:rPr>
              <a:t>Lab Prático — Dicas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Erros comuns: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Esquecer de converter saldo de </a:t>
            </a:r>
            <a:r>
              <a:rPr sz="1300" b="0">
                <a:solidFill>
                  <a:srgbClr val="4A4A4A"/>
                </a:solidFill>
                <a:latin typeface="Consolas"/>
              </a:rPr>
              <a:t>string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</a:t>
            </a:r>
            <a:r>
              <a:rPr sz="1300" b="0">
                <a:solidFill>
                  <a:srgbClr val="4A4A4A"/>
                </a:solidFill>
                <a:latin typeface="Consolas"/>
              </a:rPr>
              <a:t>float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Caminho do arquivo errado (use </a:t>
            </a:r>
            <a:r>
              <a:rPr sz="1300" b="0">
                <a:solidFill>
                  <a:srgbClr val="4A4A4A"/>
                </a:solidFill>
                <a:latin typeface="Consolas"/>
              </a:rPr>
              <a:t>dados/clientes.csv</a:t>
            </a:r>
            <a:r>
              <a:rPr sz="1500" b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Divisão por zero se não houver clientes de um 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Lab Prático — Checklist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Verifique se seu script: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Lê o arquivo </a:t>
            </a:r>
            <a:r>
              <a:rPr sz="1400" b="0">
                <a:solidFill>
                  <a:srgbClr val="4A4A4A"/>
                </a:solidFill>
                <a:latin typeface="Consolas"/>
              </a:rPr>
              <a:t>clientes.csv</a:t>
            </a:r>
            <a:r>
              <a:rPr sz="1600" b="0">
                <a:solidFill>
                  <a:srgbClr val="4A4A4A"/>
                </a:solidFill>
                <a:latin typeface="Calibri"/>
              </a:rPr>
              <a:t> sem erro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Converte os saldos para número (</a:t>
            </a:r>
            <a:r>
              <a:rPr sz="1400" b="0">
                <a:solidFill>
                  <a:srgbClr val="4A4A4A"/>
                </a:solidFill>
                <a:latin typeface="Consolas"/>
              </a:rPr>
              <a:t>float</a:t>
            </a:r>
            <a:r>
              <a:rPr sz="1600" b="0">
                <a:solidFill>
                  <a:srgbClr val="4A4A4A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Calcula o saldo total de todos os clientes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Calcula o saldo médio por tipo de conta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Conta quantos clientes têm saldo acima de R$ 10.000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Lista os inadimplentes (saldo negativo)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Exibe os resultados formatados no terminal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O código está legível e com comentários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Lab Prático — Checklist de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Bônus (se sobrar tempo):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Ordenar inadimplentes do mais negativo para o menos negativo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Salvar o relatório em um arquivo </a:t>
            </a:r>
            <a:r>
              <a:rPr sz="1400" b="0">
                <a:solidFill>
                  <a:srgbClr val="4A4A4A"/>
                </a:solidFill>
                <a:latin typeface="Consolas"/>
              </a:rPr>
              <a:t>.txt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[ ] Adicionar tratamento de erro (</a:t>
            </a:r>
            <a:r>
              <a:rPr sz="1400" b="0">
                <a:solidFill>
                  <a:srgbClr val="4A4A4A"/>
                </a:solidFill>
                <a:latin typeface="Consolas"/>
              </a:rPr>
              <a:t>try/except</a:t>
            </a:r>
            <a:r>
              <a:rPr sz="1600" b="0">
                <a:solidFill>
                  <a:srgbClr val="4A4A4A"/>
                </a:solidFill>
                <a:latin typeface="Calibri"/>
              </a:rPr>
              <a:t>) para arquivo não encontrado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Salve seu arquivo como: `labs/lab01_analise_contas.py`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Recap — O que aprendemos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Conceitos: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O que é </a:t>
            </a:r>
            <a:r>
              <a:rPr sz="1600" b="1">
                <a:solidFill>
                  <a:srgbClr val="1B3A5C"/>
                </a:solidFill>
                <a:latin typeface="Calibri"/>
              </a:rPr>
              <a:t>desenvolvimento assistido por IA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Como funcionam os </a:t>
            </a:r>
            <a:r>
              <a:rPr sz="1600" b="1">
                <a:solidFill>
                  <a:srgbClr val="1B3A5C"/>
                </a:solidFill>
                <a:latin typeface="Calibri"/>
              </a:rPr>
              <a:t>LLMs</a:t>
            </a:r>
            <a:r>
              <a:rPr sz="1600" b="0">
                <a:solidFill>
                  <a:srgbClr val="4A4A4A"/>
                </a:solidFill>
                <a:latin typeface="Calibri"/>
              </a:rPr>
              <a:t> (tokens, contexto, previsão)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Limitações</a:t>
            </a:r>
            <a:r>
              <a:rPr sz="1600" b="0">
                <a:solidFill>
                  <a:srgbClr val="4A4A4A"/>
                </a:solidFill>
                <a:latin typeface="Calibri"/>
              </a:rPr>
              <a:t> da IA (alucinação, contexto limitado)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  <a:latin typeface="Calibri"/>
              </a:rPr>
              <a:t>• Importância de </a:t>
            </a:r>
            <a:r>
              <a:rPr sz="1600" b="1">
                <a:solidFill>
                  <a:srgbClr val="1B3A5C"/>
                </a:solidFill>
                <a:latin typeface="Calibri"/>
              </a:rPr>
              <a:t>bons prompts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Recap — O que aprendemos hoje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Ferramentas: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ChatGPT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conversa e planejamento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498DB"/>
                </a:solidFill>
                <a:latin typeface="Calibri"/>
              </a:rPr>
              <a:t>■ </a:t>
            </a:r>
            <a:r>
              <a:rPr sz="1500" b="1">
                <a:solidFill>
                  <a:srgbClr val="1B3A5C"/>
                </a:solidFill>
                <a:latin typeface="Calibri"/>
              </a:rPr>
              <a:t>GitHub Copilot</a:t>
            </a:r>
            <a:r>
              <a:rPr sz="1500" b="0">
                <a:solidFill>
                  <a:srgbClr val="4A4A4A"/>
                </a:solidFill>
                <a:latin typeface="Calibri"/>
              </a:rPr>
              <a:t> para código dentro do VS Code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Panorama de outras ferramentas (Cursor, Spark, Lovable)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Prática: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Instalação e configuração do </a:t>
            </a:r>
            <a:r>
              <a:rPr sz="1500" b="1">
                <a:solidFill>
                  <a:srgbClr val="1B3A5C"/>
                </a:solidFill>
                <a:latin typeface="Calibri"/>
              </a:rPr>
              <a:t>Copilot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Leitura de </a:t>
            </a:r>
            <a:r>
              <a:rPr sz="1500" b="1">
                <a:solidFill>
                  <a:srgbClr val="1B3A5C"/>
                </a:solidFill>
                <a:latin typeface="Calibri"/>
              </a:rPr>
              <a:t>CSV com Python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Metodologia: </a:t>
            </a:r>
            <a:r>
              <a:rPr sz="1500" b="1">
                <a:solidFill>
                  <a:srgbClr val="1B3A5C"/>
                </a:solidFill>
                <a:latin typeface="Calibri"/>
              </a:rPr>
              <a:t>Pensar → Dividir → Pedir → Revisar → Testar</a:t>
            </a:r>
          </a:p>
          <a:p>
            <a:pPr>
              <a:spcBef>
                <a:spcPts val="100"/>
              </a:spcBef>
            </a:pPr>
            <a:endParaRPr sz="15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"A IA é tão boa quanto o prompt que você dá e a revisão que você faz."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Preview da Aula 2 +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Na próxima aula: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SQL com Copilot</a:t>
            </a:r>
            <a:r>
              <a:rPr sz="1600" b="0">
                <a:solidFill>
                  <a:srgbClr val="4A4A4A"/>
                </a:solidFill>
                <a:latin typeface="Calibri"/>
              </a:rPr>
              <a:t>: criação de tabelas, consultas, joins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Banco de dados SQLite</a:t>
            </a:r>
            <a:r>
              <a:rPr sz="1600" b="0">
                <a:solidFill>
                  <a:srgbClr val="4A4A4A"/>
                </a:solidFill>
                <a:latin typeface="Calibri"/>
              </a:rPr>
              <a:t> com Python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Padrões de prompt</a:t>
            </a:r>
            <a:r>
              <a:rPr sz="1600" b="0">
                <a:solidFill>
                  <a:srgbClr val="4A4A4A"/>
                </a:solidFill>
                <a:latin typeface="Calibri"/>
              </a:rPr>
              <a:t> avançados para SQL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498DB"/>
                </a:solidFill>
                <a:latin typeface="Calibri"/>
              </a:rPr>
              <a:t>■ </a:t>
            </a:r>
            <a:r>
              <a:rPr sz="1600" b="1">
                <a:solidFill>
                  <a:srgbClr val="1B3A5C"/>
                </a:solidFill>
                <a:latin typeface="Calibri"/>
              </a:rPr>
              <a:t>Lab</a:t>
            </a:r>
            <a:r>
              <a:rPr sz="1600" b="0">
                <a:solidFill>
                  <a:srgbClr val="4A4A4A"/>
                </a:solidFill>
                <a:latin typeface="Calibri"/>
              </a:rPr>
              <a:t>: Sistema de cadastro com banco de dados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Preview da Aula 2 + Referências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Referências e links úteis: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[GitHub Copilot Docs](https://docs.github.com/copilot)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[Python CSV Documentation](https://docs.python.org/3/library/csv.html)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[Prompt Engineering Guide](https://www.promptingguide.ai/)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[GitHub Copilot Free](https://github.com/features/copilot)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097280"/>
            <a:ext cx="19050" cy="50292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B3A5C"/>
                </a:solidFill>
                <a:latin typeface="Calibri"/>
              </a:rPr>
              <a:t>Leitura recomendada: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"GitHub Copilot: O Guia do Desenvolvedor" — GitHub Blog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4A4A4A"/>
                </a:solidFill>
                <a:latin typeface="Calibri"/>
              </a:rPr>
              <a:t>• "Prompt Engineering for Developers" — DeepLearning.AI</a:t>
            </a:r>
          </a:p>
          <a:p>
            <a:pPr>
              <a:spcBef>
                <a:spcPts val="100"/>
              </a:spcBef>
            </a:pPr>
            <a:endParaRPr sz="15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3498DB"/>
                </a:solidFill>
                <a:latin typeface="Calibri"/>
              </a:rPr>
              <a:t>❝ Pratiquem com o Copilot Free até a próxima aula! Quanto mais usarem, melhor ficam.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Calibri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Dúvidas?</a:t>
            </a:r>
          </a:p>
          <a:p>
            <a:pPr>
              <a:spcBef>
                <a:spcPts val="100"/>
              </a:spcBef>
            </a:pPr>
            <a:endParaRPr sz="1600" b="1">
              <a:solidFill>
                <a:srgbClr val="1B3A5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B3A5C"/>
                </a:solidFill>
                <a:latin typeface="Calibri"/>
              </a:rPr>
              <a:t>Contato</a:t>
            </a:r>
            <a:r>
              <a:rPr sz="1600" b="0">
                <a:solidFill>
                  <a:srgbClr val="4A4A4A"/>
                </a:solidFill>
                <a:latin typeface="Calibri"/>
              </a:rPr>
              <a:t>: [e-mail/canal do instrutor]</a:t>
            </a:r>
          </a:p>
          <a:p>
            <a:pPr>
              <a:spcBef>
                <a:spcPts val="100"/>
              </a:spcBef>
            </a:pPr>
            <a:endParaRPr sz="1600" b="0">
              <a:solidFill>
                <a:srgbClr val="4A4A4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3498DB"/>
                </a:solidFill>
                <a:latin typeface="Calibri"/>
              </a:rPr>
              <a:t>❝ "O melhor momento para começar a usar IA no desenvolvimento foi ontem. O segundo melhor momento é agora."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A4A4A"/>
                </a:solidFill>
                <a:latin typeface="Calibri"/>
              </a:defRPr>
            </a:pPr>
            <a:r>
              <a:t>Desenvolvimento Rapido com Solucoes de IA --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4A4A"/>
                </a:solidFill>
                <a:latin typeface="Calibri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5850</Words>
  <Application>Microsoft Office PowerPoint</Application>
  <PresentationFormat>Widescreen</PresentationFormat>
  <Paragraphs>906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de Carli Humenhuk</cp:lastModifiedBy>
  <cp:revision>10</cp:revision>
  <dcterms:created xsi:type="dcterms:W3CDTF">2013-01-27T09:14:16Z</dcterms:created>
  <dcterms:modified xsi:type="dcterms:W3CDTF">2026-03-31T01:20:47Z</dcterms:modified>
  <cp:category/>
</cp:coreProperties>
</file>