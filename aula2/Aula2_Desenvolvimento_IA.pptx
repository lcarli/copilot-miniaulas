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carli/Copilot-MiniAula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Desenvolvimento Rápido com Soluções de IA — Aula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498DB"/>
                </a:solidFill>
                <a:latin typeface="Calibri"/>
              </a:rPr>
              <a:t>Produtividade e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Curso: Desenvolvimento Rápido com Soluções de IA</a:t>
            </a:r>
          </a:p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Duração: ~3 horas</a:t>
            </a:r>
          </a:p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Pré-requisito: Aula 1 — Fundamentos e Primeiros Passos</a:t>
            </a:r>
          </a:p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Instrutor: use --- como separador de slides ao apresentar.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Agenda da Aula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Bloco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89432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Revisão e Aquecimento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432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15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IA no Ciclo de Desenvolvimento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432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Refatoração e Debugging com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432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Automações Bancárias Realistas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432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40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Documentação e Organização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432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Mini Projeto Final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432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40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594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200" y="34594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Encerramento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94320" y="34594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10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16680"/>
            <a:ext cx="10881360" cy="220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Formato</a:t>
            </a:r>
            <a:r>
              <a:rPr sz="1500" b="0">
                <a:solidFill>
                  <a:srgbClr val="4A4A4A"/>
                </a:solidFill>
                <a:latin typeface="Calibri"/>
              </a:rPr>
              <a:t>: slides expositivos + demos ao vivo + lab prático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Ferramentas</a:t>
            </a:r>
            <a:r>
              <a:rPr sz="1500" b="0">
                <a:solidFill>
                  <a:srgbClr val="4A4A4A"/>
                </a:solidFill>
                <a:latin typeface="Calibri"/>
              </a:rPr>
              <a:t>: VS Code + GitHub Copilot (Free) + Python 3.10+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Recap — O que vimos na Aula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IA Generativa e LLMs</a:t>
            </a:r>
            <a:r>
              <a:rPr sz="1600" b="0">
                <a:solidFill>
                  <a:srgbClr val="4A4A4A"/>
                </a:solidFill>
                <a:latin typeface="Calibri"/>
              </a:rPr>
              <a:t>: modelos de linguagem preveem o próximo token; quanto melhor o contexto, melhor a resposta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Ferramentas</a:t>
            </a:r>
            <a:r>
              <a:rPr sz="1600" b="0">
                <a:solidFill>
                  <a:srgbClr val="4A4A4A"/>
                </a:solidFill>
                <a:latin typeface="Calibri"/>
              </a:rPr>
              <a:t>: GitHub Copilot, ChatGPT, Cursor, Bolt.new — cada uma com seu ponto forte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GitHub Copilot na prática</a:t>
            </a:r>
            <a:r>
              <a:rPr sz="1600" b="0">
                <a:solidFill>
                  <a:srgbClr val="4A4A4A"/>
                </a:solidFill>
                <a:latin typeface="Calibri"/>
              </a:rPr>
              <a:t>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Completar código com </a:t>
            </a:r>
            <a:r>
              <a:rPr sz="1200" b="0">
                <a:solidFill>
                  <a:srgbClr val="4A4A4A"/>
                </a:solidFill>
                <a:latin typeface="Consolas"/>
              </a:rPr>
              <a:t>Tab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Copilot Chat (</a:t>
            </a:r>
            <a:r>
              <a:rPr sz="1200" b="0">
                <a:solidFill>
                  <a:srgbClr val="4A4A4A"/>
                </a:solidFill>
                <a:latin typeface="Consolas"/>
              </a:rPr>
              <a:t>Ctrl+I</a:t>
            </a:r>
            <a:r>
              <a:rPr sz="1400" b="0">
                <a:solidFill>
                  <a:srgbClr val="4A4A4A"/>
                </a:solidFill>
                <a:latin typeface="Calibri"/>
              </a:rPr>
              <a:t>) para pedir ajuda inline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Prompts claros = respostas melhores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Python + Copilot</a:t>
            </a:r>
            <a:r>
              <a:rPr sz="1600" b="0">
                <a:solidFill>
                  <a:srgbClr val="4A4A4A"/>
                </a:solidFill>
                <a:latin typeface="Calibri"/>
              </a:rPr>
              <a:t>: lemos CSVs, manipulamos dados, criamos funções simples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Metodologia</a:t>
            </a:r>
            <a:r>
              <a:rPr sz="1600" b="0">
                <a:solidFill>
                  <a:srgbClr val="4A4A4A"/>
                </a:solidFill>
                <a:latin typeface="Calibri"/>
              </a:rPr>
              <a:t>: dividir o problema → pedir por partes → revisar → iterar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A IA é uma co-piloto — quem dirige é você!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Quick Challenge — Aquecimento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[DEMO RÁPIDA] Validação de CPF com Copilot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Desafio</a:t>
            </a:r>
            <a:r>
              <a:rPr sz="1500" b="0">
                <a:solidFill>
                  <a:srgbClr val="4A4A4A"/>
                </a:solidFill>
                <a:latin typeface="Calibri"/>
              </a:rPr>
              <a:t>: Peça ao Copilot para criar uma função que valida CPF.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Prompt sugerido no Copilot Chat: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894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6568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Crie uma função Python chamada validar_cpf que recebe uma string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e retorna True se o CPF for válido (com verificação dos dígitos).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68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Resultado esperado: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Quick Challenge — Aquecimento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3162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009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validar_cpf(cpf: str) -&gt; bool: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cpf = ''.join(c for c in cpf if c.isdigit())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if len(cpf) != 11 or cpf == cpf[0] * 11: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return False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i in range(9, 11):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soma = sum(int(cpf[j]) * ((i + 1) - j) for j in range(i))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digito = (soma * 10 % 11) % 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if int(cpf[i]) != digito: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return False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True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Teste rápido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print(validar_cpf("529.982.247-25")) # True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print(validar_cpf("111.111.111-11")) #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611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Observe: o Copilot já conhece a regra de validação de CPF!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Bloco 2 — IA no Ciclo de Desenvolvimento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O Ciclo Completo de Desenvolvimento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1257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1104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┌──────────┐ ┌──────────────┐ ┌───────────┐ ┌───────────┐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│ IDEAÇÃO │ ──▶ │ PROTOTIPAÇÃO │ ──▶ │ VALIDAÇÃO │ ──▶ │ ITERAÇÃO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└──────────┘ └──────────────┘ └───────────┘ └───────────┘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▲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└────────────────────────────────────────────────────────┘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89580"/>
            <a:ext cx="10881360" cy="125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895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9895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 que acontece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705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Ideação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3705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Definir o problema, pensar em soluções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07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Prototipação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7007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Escrever a primeira versão funcional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309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Validação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0309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Testar, verificar, garantir que funciona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611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Iteração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3611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Melhorar, refatorar, adicionar funcionalidades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18380"/>
            <a:ext cx="1088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Com IA, cada fase fica mais rápida — mas nenhuma pode ser pulada!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IA em Cada Fase do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Como a IA ajuda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432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Exemplo de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Ideação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Brainstorm de abordagens, sugerir estruturas de dados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432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*"Quais estruturas posso usar para organizar transações bancárias?"*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Prototipação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Gerar código funcional rapidamente, criar esqueletos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432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*"Crie uma função que lê um CSV e retorna um dicionário agrupado por cliente"*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Validação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Gerar testes, identificar edge cases, revisar lógica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432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*"Gere testes para essa função cobrindo entradas vazias e valores negativos"*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Iteração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20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Refatorar, otimizar, adicionar tratamento de erros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432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*"Refatore para usar list comprehension e adicione tratamento de exceções"*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1088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Dica de ouro</a:t>
            </a:r>
            <a:r>
              <a:rPr sz="1500" b="0">
                <a:solidFill>
                  <a:srgbClr val="4A4A4A"/>
                </a:solidFill>
                <a:latin typeface="Calibri"/>
              </a:rPr>
              <a:t>: quanto mais específico o prompt, melhor o resultado.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3314901"/>
            <a:ext cx="10881360" cy="876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391101"/>
            <a:ext cx="10515600" cy="723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"Faça um programa de banco"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"Crie uma função que recebe uma lista de dicionários com campos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'valor' e 'tipo', e retorna o saldo total (créditos - débitos)"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Estratégias para Copilot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O plano Free tem </a:t>
            </a:r>
            <a:r>
              <a:rPr sz="1500" b="1">
                <a:solidFill>
                  <a:srgbClr val="1B3A5C"/>
                </a:solidFill>
                <a:latin typeface="Calibri"/>
              </a:rPr>
              <a:t>limite de interações por mês</a:t>
            </a:r>
            <a:r>
              <a:rPr sz="1500" b="0">
                <a:solidFill>
                  <a:srgbClr val="4A4A4A"/>
                </a:solidFill>
                <a:latin typeface="Calibri"/>
              </a:rPr>
              <a:t>. Use com sabedoria!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1. Prompts curtos e diretos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0886"/>
            <a:ext cx="10881360" cy="1257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17086"/>
            <a:ext cx="10515600" cy="1104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"Quero que você crie um sistema completo de gestão bancária com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login, cadastro, extrato, transferência e relatórios"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"Crie uma função calcular_saldo(transacoes) que recebe uma lista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de dicts com 'valor' e 'tipo' e retorna o saldo"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Estratégias para Copilot Free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2. Arquivos pequenos e focados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Um arquivo por responsabilidade (ex: </a:t>
            </a:r>
            <a:r>
              <a:rPr sz="1300" b="0">
                <a:solidFill>
                  <a:srgbClr val="4A4A4A"/>
                </a:solidFill>
                <a:latin typeface="Consolas"/>
              </a:rPr>
              <a:t>leitura.py</a:t>
            </a:r>
            <a:r>
              <a:rPr sz="1500" b="0">
                <a:solidFill>
                  <a:srgbClr val="4A4A4A"/>
                </a:solidFill>
                <a:latin typeface="Calibri"/>
              </a:rPr>
              <a:t>, </a:t>
            </a:r>
            <a:r>
              <a:rPr sz="1300" b="0">
                <a:solidFill>
                  <a:srgbClr val="4A4A4A"/>
                </a:solidFill>
                <a:latin typeface="Consolas"/>
              </a:rPr>
              <a:t>calculo.py</a:t>
            </a:r>
            <a:r>
              <a:rPr sz="1500" b="0">
                <a:solidFill>
                  <a:srgbClr val="4A4A4A"/>
                </a:solidFill>
                <a:latin typeface="Calibri"/>
              </a:rPr>
              <a:t>, </a:t>
            </a:r>
            <a:r>
              <a:rPr sz="1300" b="0">
                <a:solidFill>
                  <a:srgbClr val="4A4A4A"/>
                </a:solidFill>
                <a:latin typeface="Consolas"/>
              </a:rPr>
              <a:t>relatorio.py</a:t>
            </a:r>
            <a:r>
              <a:rPr sz="1500" b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Copilot entende melhor arquivos com até ~100 linhas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3. Iterar por etapas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Passo 1: Gere a função básica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Passo 2: Peça para adicionar validação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Passo 3: Peça para adicionar tratamento de erros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Passo 4: Peça para adicionar docstring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Dividir para conquistar — vale para código e para prompts!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Quando a IA Ajuda vs Quando Atrapalha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 ajuda muito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0972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 pode atrapalhar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782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Gerar boilerplate e código repetitivo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4782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Decisões de arquitetura complexas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084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Criar funções com lógica conhecida (ordenação, filtros)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084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Lógica de negócio muito específica da empresa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8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Gerar docstrings e comentários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138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Código que envolve segurança crítica (sem revisão)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Refatorar código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468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Otimização de performance sem contexto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99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Escrever testes unitários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799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Depurar problemas de infraestrutura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129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Converter entre formatos (JSON ↔ CSV ↔ dict)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129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Entender requisitos vagos ou ambíguos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594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Explicar código legado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4594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Substituir o entendimento do desenvolvedor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16680"/>
            <a:ext cx="10881360" cy="220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Regra de ouro: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Use a IA para acelerar o que você já sabe fazer.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Use a IA para aprender o que você ainda não sabe.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Nunca use a IA para pular o que você precisa entender.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Desenvolvimento Iterativo —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Cenário</a:t>
            </a:r>
            <a:r>
              <a:rPr sz="1500" b="0">
                <a:solidFill>
                  <a:srgbClr val="4A4A4A"/>
                </a:solidFill>
                <a:latin typeface="Calibri"/>
              </a:rPr>
              <a:t>: criar uma função que classifica transações bancárias.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1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Peça a versão básica: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10080"/>
            <a:ext cx="10881360" cy="2590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86280"/>
            <a:ext cx="10515600" cy="24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def classificar_transacao(descricao):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categorias =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"supermercado": "Alimentação",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"restaurante": "Alimentação",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"farmácia": "Saúde",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"combustível": "Transporte",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"posto": "Transporte",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for palavra, categoria in categorias.items():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if palavra in descricao.lower():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   return categoria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return "Outros"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Desenvolvimento Iterativo — Passo a Passo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2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Peça para tratar edge cases: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1066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def classificar_transacao(descricao):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if not descricao or not isinstance(descricao, str):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return "Não classificado"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# ... resto da 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990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3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Peça para tornar configurável: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2480"/>
            <a:ext cx="10881360" cy="1066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408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def classificar_transacao(descricao, mapa_categorias=None):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if mapa_categorias is None: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mapa_categorias = CATEGORIAS_PADRAO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# ... lógica usando o mapa recebido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008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Cada etapa é um prompt separado. Revise antes de seguir!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Armadilhas Comuns ao Usar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1. "Copiar e colar mágico"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Aceitar o código sem entender o que ele faz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Solução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use </a:t>
            </a:r>
            <a:r>
              <a:rPr sz="1300" b="0">
                <a:solidFill>
                  <a:srgbClr val="4A4A4A"/>
                </a:solidFill>
                <a:latin typeface="Consolas"/>
              </a:rPr>
              <a:t>/explain</a:t>
            </a:r>
            <a:r>
              <a:rPr sz="1500" b="0">
                <a:solidFill>
                  <a:srgbClr val="4A4A4A"/>
                </a:solidFill>
                <a:latin typeface="Calibri"/>
              </a:rPr>
              <a:t> antes de aceitar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2. "Pedir o mundo de uma vez"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Prompts enormes geram código enorme e difícil de revisar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Solução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divida em funções pequenas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3. "Loop infinito de correções"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Pedir para corrigir → gera novo bug → pedir para corrigir → ...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Solução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pare, entenda o problema, reescreva o prompt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Armadilhas Comuns ao Usar IA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4. "Confiar demais no código gerado"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A IA pode gerar código que funciona mas não é correto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Solução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teste com dados reais e edge cases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5. "Ignorar a estrutura"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Colocar tudo em um arquivo só porque a IA gerou assim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Solução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organize em módulos desde o início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 IA erra. Você revisa. Juntos, vocês produzem melhor.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Bloco 3 — Refatoração 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3498DB"/>
                </a:solidFill>
                <a:latin typeface="Calibri"/>
              </a:rPr>
              <a:t>O que é Refatoração e Por Que Importa</a:t>
            </a:r>
          </a:p>
          <a:p>
            <a:pPr>
              <a:spcBef>
                <a:spcPts val="100"/>
              </a:spcBef>
            </a:pPr>
            <a:endParaRPr sz="18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Refatoração</a:t>
            </a:r>
            <a:r>
              <a:rPr sz="1600" b="0">
                <a:solidFill>
                  <a:srgbClr val="4A4A4A"/>
                </a:solidFill>
                <a:latin typeface="Calibri"/>
              </a:rPr>
              <a:t> = melhorar a estrutura do código </a:t>
            </a:r>
            <a:r>
              <a:rPr sz="1600" b="1">
                <a:solidFill>
                  <a:srgbClr val="1B3A5C"/>
                </a:solidFill>
                <a:latin typeface="Calibri"/>
              </a:rPr>
              <a:t>sem alterar</a:t>
            </a:r>
            <a:r>
              <a:rPr sz="1600" b="0">
                <a:solidFill>
                  <a:srgbClr val="4A4A4A"/>
                </a:solidFill>
                <a:latin typeface="Calibri"/>
              </a:rPr>
              <a:t> o comportamento.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Por que refatorar?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Legibilidade</a:t>
            </a:r>
            <a:r>
              <a:rPr sz="1600" b="0">
                <a:solidFill>
                  <a:srgbClr val="4A4A4A"/>
                </a:solidFill>
                <a:latin typeface="Calibri"/>
              </a:rPr>
              <a:t>: código claro é mais fácil de manter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Menos bugs</a:t>
            </a:r>
            <a:r>
              <a:rPr sz="1600" b="0">
                <a:solidFill>
                  <a:srgbClr val="4A4A4A"/>
                </a:solidFill>
                <a:latin typeface="Calibri"/>
              </a:rPr>
              <a:t>: código organizado = menos esconderijos para bugs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Reuso</a:t>
            </a:r>
            <a:r>
              <a:rPr sz="1600" b="0">
                <a:solidFill>
                  <a:srgbClr val="4A4A4A"/>
                </a:solidFill>
                <a:latin typeface="Calibri"/>
              </a:rPr>
              <a:t>: funções bem definidas podem ser usadas em outros projetos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Colaboração</a:t>
            </a:r>
            <a:r>
              <a:rPr sz="1600" b="0">
                <a:solidFill>
                  <a:srgbClr val="4A4A4A"/>
                </a:solidFill>
                <a:latin typeface="Calibri"/>
              </a:rPr>
              <a:t>: outras pessoas (e seu "eu do futuro") vão entender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Evolução</a:t>
            </a:r>
            <a:r>
              <a:rPr sz="1600" b="0">
                <a:solidFill>
                  <a:srgbClr val="4A4A4A"/>
                </a:solidFill>
                <a:latin typeface="Calibri"/>
              </a:rPr>
              <a:t>: código limpo é mais fácil de estender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Bloco 3 — Refatoração e Debugging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Sinais de que o código precisa de refatoração: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Funções com mais de 20-30 linhas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Nomes de variáveis como </a:t>
            </a:r>
            <a:r>
              <a:rPr sz="1400" b="0">
                <a:solidFill>
                  <a:srgbClr val="4A4A4A"/>
                </a:solidFill>
                <a:latin typeface="Consolas"/>
              </a:rPr>
              <a:t>x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temp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dados2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Código duplicado (copy-paste)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Muitos </a:t>
            </a:r>
            <a:r>
              <a:rPr sz="1400" b="0">
                <a:solidFill>
                  <a:srgbClr val="4A4A4A"/>
                </a:solidFill>
                <a:latin typeface="Consolas"/>
              </a:rPr>
              <a:t>if/else</a:t>
            </a:r>
            <a:r>
              <a:rPr sz="1600" b="0">
                <a:solidFill>
                  <a:srgbClr val="4A4A4A"/>
                </a:solidFill>
                <a:latin typeface="Calibri"/>
              </a:rPr>
              <a:t> aninhados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Comentários explicando o que o código faz (em vez de o código se explicar)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Código Espaguete vs Código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Antes — Código Espaguete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Código Espaguete vs Código Modular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3352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arquivo = open("transacoes.csv", "r")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leitor = csv.reader(arquivo)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next(leitor)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total_c =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total_d =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for linha in leitor: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if linha[3] == "credito":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total_c = total_c + float(linha[2])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total_d = total_d + float(linha[2])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arquivo.close()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print(f"Créditos: {total_c}")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print(f"Débitos: {total_d}")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print(f"Saldo: {total_c - total_d}")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Código Espaguete vs Código Modular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Depois — Código Modular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Código Espaguete vs Código Modular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3924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77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ler_transacoes(caminho: str) -&gt; list[dict]: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with open(caminho, "r", encoding="utf-8") as f: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return list(csv.DictReader(f))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calcular_totais(transacoes: list[dict]) -&gt; dict: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creditos = sum(float(t["valor"]) for t in transacoes if t["tipo"] == "credito")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debitos = sum(float(t["valor"]) for t in transacoes if t["tipo"] == "debito")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{"creditos": creditos, "debitos": debitos, "saldo": creditos - debitos}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exibir_resumo(totais: dict) -&gt; None: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chave, valor in totais.items():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print(f"{chave.capitalize()}: R$ {valor:,.2f}")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--- Execução ---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transacoes = ler_transacoes("transacoes.csv")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totais = calcular_totais(transacoes)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exibir_resumo(totais)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Código Espaguete vs Código Modular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Mesmo resultado, mas agora cada função pode ser testada, reutilizada e entendida separadamente.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Refatoração com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Arquivo: `demo01_refatoracao.py`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vamos fazer: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Partir de um código "espaguete" que processa transações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Pedir ao Copilot para refatorar passo a passo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Prompts para a demo: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3078480"/>
            <a:ext cx="1088136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3154680"/>
            <a:ext cx="1057656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Prompt 1: "Refatore este código para usar funções separadas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  para leitura, processamento e exibição"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Prompt 2: "Adicione type hints em todas as funções"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Prompt 3: "Substitua o open/close por context manager (with)"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Prompt 4: "Use csv.DictReader em vez de csv.reader"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Refatoração com Copilot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Dicas para a plateia: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Observe como o Copilot entende o contexto do arquivo aberto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Cada refatoração mantém o comportamento original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Teste após cada mudança!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27990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2875280"/>
            <a:ext cx="1057656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Atalho útil no VS Code: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Selecione o código → Ctrl+I → digite o prompt de refatoração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86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Abra aula2/demos/demo01_refatoracao.py no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Geração de Funções e Modularização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O Copilot é excelente para </a:t>
            </a:r>
            <a:r>
              <a:rPr sz="1500" b="1">
                <a:solidFill>
                  <a:srgbClr val="1B3A5C"/>
                </a:solidFill>
                <a:latin typeface="Calibri"/>
              </a:rPr>
              <a:t>extrair funções</a:t>
            </a:r>
            <a:r>
              <a:rPr sz="1500" b="0">
                <a:solidFill>
                  <a:srgbClr val="4A4A4A"/>
                </a:solidFill>
                <a:latin typeface="Calibri"/>
              </a:rPr>
              <a:t> de blocos de código.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 de extração: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5167" y="211074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047" y="218694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Extraia a lógica de filtragem em uma função separada chamada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filtrar_por_tipo que recebe a lista de transações e o tipo desejado.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Geração de Funções e Modularização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Resultado: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590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4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def filtrar_por_tipo(transacoes: list[dict], tipo: str) -&gt; list[dict]: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"""Filtra transações pelo tipo (credito/debito)."""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return [t for t in transacoes if t["tipo"] == tipo]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def calcular_total(transacoes: list[dict]) -&gt; float: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"""Calcula a soma dos valores de uma lista de transações."""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return sum(float(t["valor"]) for t in transacoes)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Uso modular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creditos = filtrar_por_tipo(transacoes, "credito")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debitos = filtrar_por_tipo(transacoes, "debito")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saldo = calcular_total(creditos) - calcular_total(debitos)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Geração de Funções e Modularização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Vantagens da modularização: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Funções pequenas e reutilizáveis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Fácil de testar individualmente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Nomes descritivos = documentação natural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Composição flexível de operações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Tratamento de Exceções com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A IA pode sugerir </a:t>
            </a:r>
            <a:r>
              <a:rPr sz="1500" b="1">
                <a:solidFill>
                  <a:srgbClr val="1B3A5C"/>
                </a:solidFill>
                <a:latin typeface="Calibri"/>
              </a:rPr>
              <a:t>tratamento de erros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cenários comuns.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Prompt: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320" y="200152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207772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Adicione tratamento de exceções para: arquivo não encontrado,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arquivo vazio, e valores não numéricos na coluna 'valor'.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Tratamento de Exceções com IA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Resultado: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7927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Tratamento de Exceções com IA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79"/>
            <a:ext cx="10881360" cy="5261409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870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ler_transacoes_seguro(caminho: str) -&gt; list[dict]: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"""Lê transações de um CSV com tratamento de erros."""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try: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with open(caminho, "r", encoding="utf-8") as f: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transacoes = list(csv.DictReader(f))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if not transacoes: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print(f" Arquivo '{caminho}' está vazio.")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return []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# Validar valores numéricos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for t in transacoes: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try: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float(t["valor"])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except (ValueError, KeyError):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print(f" Transação inválida ignorada: {t}")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transacoes.remove(t)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return transacoes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except FileNotFoundError: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print(f" Arquivo '{caminho}' não encontrado.")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return []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except Exception as 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print(f" Erro inesperado: {e}")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return []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Tratamento de Exceções com IA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 IA sugere, mas você decide quais erros são relevantes para o seu caso.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Debugging com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Comandos úteis do Copilot Chat: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Comando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 que faz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432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/explain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Explica o código selecionado linha a linha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432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Quando não entende o que o código faz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Sugere correção para erros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432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Quando tem um bug identificado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 testes para o código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432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Para validar o comportamento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>
                <a:solidFill>
                  <a:srgbClr val="4A4A4A"/>
                </a:solidFill>
                <a:latin typeface="Calibri"/>
              </a:rPr>
              <a:t>/plan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6720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Cria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um plano de </a:t>
            </a:r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desenvolvimento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9432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>
                <a:solidFill>
                  <a:srgbClr val="4A4A4A"/>
                </a:solidFill>
                <a:latin typeface="Calibri"/>
              </a:rPr>
              <a:t>Quando o </a:t>
            </a:r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contexto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da </a:t>
            </a:r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tarefa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é </a:t>
            </a:r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complexo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ou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grande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Debugging com Copilot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Fluxo de debugging com IA: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400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247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1. Identifique o sintoma (erro, resultado errado)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2. Selecione o trecho suspeito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3. Use /explain para entender a lógica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4. Use /fix para sugerir correção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5. Revise a sugestão criticamente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6. Teste a correção com dados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325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O Copilot sugere correções, mas nem sempre a primeira sugestão é a melhor. Leia com atenção!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Encontrando e Corrigindo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Arquivo: `demo02_debugging.py`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Código com bugs propositais: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Encontrando e Corrigindo Bugs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3162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480" y="1630680"/>
            <a:ext cx="10576560" cy="3009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calcular_media_transacoes(transacoes):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total =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t in transacoes: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total += t["valor"] # Bug 1: valor é string, não float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media = total / len(transacoes) # Bug 2: divisão por zero se lista vazia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round(media) # Bug 3: round sem casas decimais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dados =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{"cliente": "Ana", "valor": "150.50", "tipo": "credito"},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{"cliente": "Ana", "valor": "89.90", "tipo": "debito"},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{"cliente": "Ana", "valor": "200.00", "tipo": "credito"},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print(f"Média: R$ {calcular_media_transacoes(dados)}")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print(f"Média vazia: R$ {calcular_media_transacoes([])}")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Encontrando e Corrigindo Bugs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Roteiro da demo: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Executar o código e ver o erro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Selecionar a função → </a:t>
            </a:r>
            <a:r>
              <a:rPr sz="1300" b="0">
                <a:solidFill>
                  <a:srgbClr val="4A4A4A"/>
                </a:solidFill>
                <a:latin typeface="Consolas"/>
              </a:rPr>
              <a:t>/explain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Pedir ao Copilot → </a:t>
            </a:r>
            <a:r>
              <a:rPr sz="1300" b="0">
                <a:solidFill>
                  <a:srgbClr val="4A4A4A"/>
                </a:solidFill>
                <a:latin typeface="Consolas"/>
              </a:rPr>
              <a:t>/fix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Revisar a correção sugerida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5. Testar com dados reais e lista vazia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Abra aula2/demos/demo02_debugging.py no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Bloco 4 — Automações Bancárias Realistas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O Desafio: Consolidar Dados de Múltiplos Meses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Cenário do mundo real: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banco gera um CSV de transações </a:t>
            </a:r>
            <a:r>
              <a:rPr sz="1500" b="1">
                <a:solidFill>
                  <a:srgbClr val="1B3A5C"/>
                </a:solidFill>
                <a:latin typeface="Calibri"/>
              </a:rPr>
              <a:t>por mês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Precisamos consolidar Jan + Fev + Mar em um relatório único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Cada CSV tem as mesmas colunas: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748280"/>
            <a:ext cx="10881360" cy="876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824480"/>
            <a:ext cx="10515600" cy="723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id,data,cliente_id,cliente_nome,tipo,valor,descricao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1,2024-01-05,C001,Ana Silva,debito,150.00,Supermercado Extra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2,2024-01-07,C001,Ana Silva,credito,3500.00,Salário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Bloco 4 — Automações Bancárias Realistas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Arquivos disponíveis: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</a:t>
            </a:r>
            <a:r>
              <a:rPr sz="1300" b="0">
                <a:solidFill>
                  <a:srgbClr val="4A4A4A"/>
                </a:solidFill>
                <a:latin typeface="Consolas"/>
              </a:rPr>
              <a:t>aula2/dados/transacoes_janeiro.csv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</a:t>
            </a:r>
            <a:r>
              <a:rPr sz="1300" b="0">
                <a:solidFill>
                  <a:srgbClr val="4A4A4A"/>
                </a:solidFill>
                <a:latin typeface="Consolas"/>
              </a:rPr>
              <a:t>aula2/dados/transacoes_fevereiro.csv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</a:t>
            </a:r>
            <a:r>
              <a:rPr sz="1300" b="0">
                <a:solidFill>
                  <a:srgbClr val="4A4A4A"/>
                </a:solidFill>
                <a:latin typeface="Consolas"/>
              </a:rPr>
              <a:t>aula2/dados/transacoes_marco.csv</a:t>
            </a:r>
          </a:p>
          <a:p>
            <a:pPr>
              <a:spcBef>
                <a:spcPts val="100"/>
              </a:spcBef>
            </a:pPr>
            <a:endParaRPr sz="13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Resultado esperado: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Total de transações consolidadas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Classificação por categoria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Estatísticas por cliente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Resumo executivo em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Pipeline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Ler → Consolidar → Classificar → Calcular → Reportar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Pipeline de Dados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Pipeline de Dados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40233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870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┌──────────────┐ ┌──────────────┐ ┌──────────────┐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│ Janeiro.csv │ │ Fevereiro.csv│ │ Março.csv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└──────┬───────┘ └──────┬───────┘ └──────┬───────┘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│ │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└───────────┬───────┘───────────────────┘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┌─────────────────┐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│ CONSOLIDAR │ Juntar todos os registros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└────────┬────────┘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┌─────────────────┐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│ CLASSIFICAR │ Atribuir categorias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└────────┬────────┘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┌─────────────────┐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│ CALCULAR │ Estatísticas por cliente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└────────┬────────┘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┌─────────────────┐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│ REPORTAR │ Gerar resumo executivo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└─────────────────┘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Pipeline de Dados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Cada etapa é uma </a:t>
            </a:r>
            <a:r>
              <a:rPr sz="1500" b="1">
                <a:solidFill>
                  <a:srgbClr val="1B3A5C"/>
                </a:solidFill>
                <a:latin typeface="Calibri"/>
              </a:rPr>
              <a:t>função independente</a:t>
            </a:r>
            <a:r>
              <a:rPr sz="1500" b="0">
                <a:solidFill>
                  <a:srgbClr val="4A4A4A"/>
                </a:solidFill>
                <a:latin typeface="Calibri"/>
              </a:rPr>
              <a:t> que recebe dados e retorna dados transformados.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Esse padrão se chama pipeline — muito usado em engenharia de dados!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Arquivo: `demo03_pipeline.py`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Completo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1 — Ler e Consolidar CSVs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Completo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36576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480" y="1630680"/>
            <a:ext cx="10576560" cy="35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ler_csv(caminho: str) -&gt; list[dict]: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"""Lê um arquivo CSV e retorna lista de dicionários."""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with open(caminho, "r", encoding="utf-8") as f: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return list(csv.DictReader(f))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consolidar_csvs(diretorio: str, arquivos: list[str]) -&gt; list[dict]: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"""Consolida múltiplos CSVs em uma única lista."""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todas = []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arquivo in arquivos: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caminho = os.path.join(diretorio, arquivo)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transacoes = ler_csv(caminho)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print(f" {arquivo}: {len(transacoes)} transações")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todas.extend(transacoes)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print(f" Total consolidado: {len(todas)} transações")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todas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Completo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Prompt usado: *"Crie uma função que lê múltiplos CSVs de um diretório e consolida em uma única lista de dicionários"*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Classificar e Calcular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2 — Classificar Transações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Classificar e Calcular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Classificar e Calcular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36576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480" y="1630680"/>
            <a:ext cx="10576560" cy="35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CATEGORIAS =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"supermercado": "Alimentação", "restaurante": "Alimentação",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"farmácia": "Saúde", "hospital": "Saúde",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"combustível": "Transporte", "uber": "Transporte",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"aluguel": "Moradia", "condomínio": "Moradia",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"salário": "Receita", "freelance": "Receita",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classificar(transacoes: list[dict]) -&gt; list[dict]: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"""Adiciona campo 'categoria' a cada transação."""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t in transacoes: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desc = t.get("descricao", "").lower()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t["categoria"] = "Outros"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for palavra, cat in CATEGORIAS.items():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if palavra in desc: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t["categoria"] = cat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    break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transacoes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Classificar e Calcular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3 — Estatísticas por Cliente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Classificar e Calcular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3352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480" y="1630680"/>
            <a:ext cx="105765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stats_por_cliente(transacoes: list[dict]) -&gt; dict: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"""Calcula estatísticas agrupadas por cliente."""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clientes = {}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t in transacoes: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nome = t["cliente_nome"]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valor = float(t["valor"])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if nome not in clientes: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clientes[nome] = {"creditos": 0, "debitos": 0, "qtd": 0}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clientes[nome]["qtd"] +=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if t["tipo"] == "credito":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clientes[nome]["creditos"] += valor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else: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clientes[nome]["debitos"] += valor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c in clientes.values():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c["saldo"] = c["creditos"] - c["debitos"]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Resumo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Etapa 4 — Gerar Relatório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Resumo Executivo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36576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480" y="1630680"/>
            <a:ext cx="10576560" cy="35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gerar_resumo(clientes: dict, transacoes: list[dict])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"""Gera um resumo executivo em texto."""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 = []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linhas.append("=" * 50)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linhas.append(" RESUMO EXECUTIVO — TRIMESTRE")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linhas.append("=" * 50)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linhas.append(f"\nTotal de transações: {len(transacoes)}")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linhas.append(f"Clientes ativos: {len(clientes)}")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linhas.append("\n--- Por Cliente ---")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nome, dados in sorted(clientes.items()):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linhas.append(f"\n {nome}:")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linhas.append(f" Transações: {dados['qtd']}")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linhas.append(f" Créditos: R$ {dados['creditos']:&gt;10,.2f}")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linhas.append(f" Débitos: R$ {dados['debitos']:&gt;10,.2f}")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linhas.append(f" Saldo: R$ {dados['saldo']:&gt;10,.2f}")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linhas.append("\n" + "=" * 50)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"\n".join(linhas)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--- Pipeline completo ---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arquivos = ["transacoes_janeiro.csv", "transacoes_fevereiro.csv",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"transacoes_marco.csv"]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dados = consolidar_csvs("aula2/dados", arquivos)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dados = classificar(dados)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clientes = stats_por_cliente(dados)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print(gerar_resumo(clientes, dados))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Pipeline — Resumo Executivo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Abra aula2/demos/demo03_pipeline.py no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Validação de Dados e Tratamento de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Dados do mundo real são </a:t>
            </a:r>
            <a:r>
              <a:rPr sz="1500" b="1">
                <a:solidFill>
                  <a:srgbClr val="1B3A5C"/>
                </a:solidFill>
                <a:latin typeface="Calibri"/>
              </a:rPr>
              <a:t>sujos</a:t>
            </a:r>
            <a:r>
              <a:rPr sz="1500" b="0">
                <a:solidFill>
                  <a:srgbClr val="4A4A4A"/>
                </a:solidFill>
                <a:latin typeface="Calibri"/>
              </a:rPr>
              <a:t>. Sempre valide!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Validação de Dados e Tratamento de Erros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534943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5686172" cy="5273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def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validar_transacao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(t: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dict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) -&gt; tuple[bool, str]: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"""Valida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uma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transação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e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retorna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(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válida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motivo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)."""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campos_obrigatorios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= ["data", "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cliente_nome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", "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", "valor"]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for campo in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campos_obrigatorios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if campo not in t or not t[campo]: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    return False,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f"Campo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'{campo}'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ausente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ou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vazio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try: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valor = float(t["valor"])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if valor &lt; 0: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    return False, "Valor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negativo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except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ValueError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return False,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f"Valor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não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numérico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: {t['valor']}"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if t["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"] not in ("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credito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", "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debito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"):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return False,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f"Tipo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inválido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: {t['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']}"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return True, "OK"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def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filtrar_validas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(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: list[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dict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]) -&gt; list[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dict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]: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"""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Retorna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apenas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transações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válidas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logando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as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inválidas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validas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= []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for t in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ok,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motivo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=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validar_transacao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(t)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if ok: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   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validas.append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(t)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else: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        print(f"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Transação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ignorada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(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linha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 {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t.get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('id', '?')}): {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motivo</a:t>
            </a:r>
            <a:r>
              <a:rPr sz="1000" b="0" dirty="0">
                <a:solidFill>
                  <a:srgbClr val="4A4A4A"/>
                </a:solidFill>
                <a:latin typeface="Consolas"/>
              </a:rPr>
              <a:t>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 dirty="0">
                <a:solidFill>
                  <a:srgbClr val="4A4A4A"/>
                </a:solidFill>
                <a:latin typeface="Consolas"/>
              </a:rPr>
              <a:t>    return </a:t>
            </a:r>
            <a:r>
              <a:rPr sz="1000" b="0" dirty="0" err="1">
                <a:solidFill>
                  <a:srgbClr val="4A4A4A"/>
                </a:solidFill>
                <a:latin typeface="Consolas"/>
              </a:rPr>
              <a:t>validas</a:t>
            </a:r>
            <a:endParaRPr sz="1000" b="0" dirty="0">
              <a:solidFill>
                <a:srgbClr val="4A4A4A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Validação de Dados e Tratamento de Erros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Prompt: *"Crie validação para cada campo da transação, retornando motivo do erro"*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Relatórios Automatizados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Gere relatórios em diferentes formatos com IA: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Relatórios Automatizados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Crie uma função que gera um relatório em formato texto/CSV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com totais por categoria e por mês.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Relatórios Automatizados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40233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870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relatorio_por_categoria(transacoes: list[dict])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"""Gera relatório agrupado por categoria."""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categorias = {}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t in transacoes: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cat = t.get("categoria", "Outros")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if cat not in categorias: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categorias[cat] = {"total": 0.0, "qtd": 0}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categorias[cat]["total"] += float(t["valor"])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categorias[cat]["qtd"] +=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linhas = ["Categoria,Quantidade,Total (R$)"]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for cat, dados in sorted(categorias.items()):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linhas.append(f"{cat},{dados['qtd']},{dados['total']:.2f}")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"\n".join(linhas)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salvar_relatorio(conteudo: str, caminho: str) -&gt; None: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"""Salva o relatório em um arquivo."""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with open(caminho, "w", encoding="utf-8") as f: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f.write(conteudo)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print(f" Relatório salvo em: {caminho}")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Relatórios Automatizados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Relatórios em CSV podem ser abertos no Excel — ótimo para compartilhar com gestores!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Organização em Funções Reutilizáveis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pipeline completo, organizado: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Organização em Funções Reutilizáveis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538534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5272597" cy="53091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# main.py —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orquestração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do pipeline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from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leitura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import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ler_csv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consolidar_csvs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from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processamento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import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classificar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validar_transacoes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from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calculo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import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stats_por_cliente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stats_por_categoria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from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relatorio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import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gerar_resumo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salvar_relatorio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def main():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# 1.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Leitura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arquivos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= ["transacoes_janeiro.csv", "transacoes_fevereiro.csv",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            "transacoes_marco.csv"]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dados =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consolidar_csvs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("dados",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arquivos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# 2.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Validação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e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classificação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dados =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validar_transacoes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dados =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classificar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# 3.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Cálculos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por_cliente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=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stats_por_cliente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por_categoria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=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stats_por_categoria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# 4.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Relatório</a:t>
            </a: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resumo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 =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gerar_resumo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por_cliente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por_categoria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print(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resumo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salvar_relatorio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(</a:t>
            </a:r>
            <a:r>
              <a:rPr sz="1050" b="0" dirty="0" err="1">
                <a:solidFill>
                  <a:srgbClr val="4A4A4A"/>
                </a:solidFill>
                <a:latin typeface="Consolas"/>
              </a:rPr>
              <a:t>resumo</a:t>
            </a:r>
            <a:r>
              <a:rPr sz="1050" b="0" dirty="0">
                <a:solidFill>
                  <a:srgbClr val="4A4A4A"/>
                </a:solidFill>
                <a:latin typeface="Consolas"/>
              </a:rPr>
              <a:t>, "relatorio_trimestral.txt")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5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if __name__ == "__main__":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 b="0" dirty="0">
                <a:solidFill>
                  <a:srgbClr val="4A4A4A"/>
                </a:solidFill>
                <a:latin typeface="Consolas"/>
              </a:rP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Organização em Funções Reutilizáveis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Cada módulo (leitura.py, processamento.py, etc.) tem uma responsabilidade 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Bloco 5 — Documentação e Organização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Por Que Documentar?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Para o "eu do futuro"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60" y="211074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3440" y="218694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Você daqui a 3 meses olhando seu próprio código: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"O que eu estava pensando quando escrevi isso?!"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8727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 dirty="0">
                <a:solidFill>
                  <a:srgbClr val="1B3A5C"/>
                </a:solidFill>
                <a:latin typeface="Calibri"/>
              </a:rPr>
              <a:t>Para a equipe</a:t>
            </a:r>
          </a:p>
          <a:p>
            <a:pPr>
              <a:spcBef>
                <a:spcPts val="200"/>
              </a:spcBef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Novos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membros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entendem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o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projeto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mais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rápido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Menos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perguntas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=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mais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produtividade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Menos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dependência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uma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única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A4A4A"/>
                </a:solidFill>
                <a:latin typeface="Calibri"/>
              </a:rPr>
              <a:t>pessoa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5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Bloco 5 — Documentação e Organização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documentar: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 quê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Como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432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O que a função faz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Docstring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432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Dentro da função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Como usar 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README.md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432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Raiz do projeto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Decisões técnicas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Comentários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432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No código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Como instalar e rodar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README.md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432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Raiz do projeto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480"/>
            <a:ext cx="1088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Código bom se auto-documenta. Documentação explica o porquê, não o como.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Docstrings em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Formato recomendado (Google Style):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Docstrings em Python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49485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870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def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calcular_saldo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(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 list[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dict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],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 str = None) -&gt; float: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"""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Calcula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o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saldo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total das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transações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Soma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os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valores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de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crédito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subtrai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os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de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débito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Opcionalmente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filtra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por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antes de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calcular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Args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 Lista de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dicts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com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chaves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'valor' e '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'.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 Se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informado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, filtra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apenas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transações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desse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Returns: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Saldo total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como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float.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Raises: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ValueError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 Se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alguma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transação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tiver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valor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não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numérico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 dirty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Example: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&gt;&gt;&gt; dados = [{"valor": "100", "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": "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credito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"}]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&gt;&gt;&gt;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calcular_saldo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(dados)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100.0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if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= [t for t in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 if t["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"] ==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tipo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4A4A4A"/>
                </a:solidFill>
                <a:latin typeface="Consolas"/>
              </a:rPr>
              <a:t>    return sum(float(t["valor"]) for t in </a:t>
            </a:r>
            <a:r>
              <a:rPr sz="1100" b="0" dirty="0" err="1">
                <a:solidFill>
                  <a:srgbClr val="4A4A4A"/>
                </a:solidFill>
                <a:latin typeface="Consolas"/>
              </a:rPr>
              <a:t>transacoes</a:t>
            </a:r>
            <a:r>
              <a:rPr sz="1100" b="0" dirty="0">
                <a:solidFill>
                  <a:srgbClr val="4A4A4A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Docstrings em Python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Seções da docstring: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Resumo</a:t>
            </a:r>
            <a:r>
              <a:rPr sz="1500" b="0">
                <a:solidFill>
                  <a:srgbClr val="4A4A4A"/>
                </a:solidFill>
                <a:latin typeface="Calibri"/>
              </a:rPr>
              <a:t>: primeira linha, breve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Docstrings em Python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Descrição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detalhes adicionais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Args</a:t>
            </a:r>
            <a:r>
              <a:rPr sz="1500" b="0">
                <a:solidFill>
                  <a:srgbClr val="4A4A4A"/>
                </a:solidFill>
                <a:latin typeface="Calibri"/>
              </a:rPr>
              <a:t>: parâmetros e seus tipos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Returns</a:t>
            </a:r>
            <a:r>
              <a:rPr sz="1500" b="0">
                <a:solidFill>
                  <a:srgbClr val="4A4A4A"/>
                </a:solidFill>
                <a:latin typeface="Calibri"/>
              </a:rPr>
              <a:t>: o que retorna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Raises</a:t>
            </a:r>
            <a:r>
              <a:rPr sz="1500" b="0">
                <a:solidFill>
                  <a:srgbClr val="4A4A4A"/>
                </a:solidFill>
                <a:latin typeface="Calibri"/>
              </a:rPr>
              <a:t>: exceções possíveis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Example</a:t>
            </a:r>
            <a:r>
              <a:rPr sz="1500" b="0">
                <a:solidFill>
                  <a:srgbClr val="4A4A4A"/>
                </a:solidFill>
                <a:latin typeface="Calibri"/>
              </a:rPr>
              <a:t>: exemplo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Gerar Docstrings e README com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Arquivo: `demo04_documentacao.py`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Gerando docstrings automaticamente: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 no Copilot Chat: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96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2595880"/>
            <a:ext cx="1057656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Gere docstrings no formato Google Style para todas as funções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deste arquivo. Inclua Args, Returns e Example.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Gerar Docstrings e README com Copilot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Gerando README.md do projeto: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0881360" cy="1447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2316480"/>
            <a:ext cx="10576560" cy="129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Gere um README.md para este projeto Python que: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- Explica o que o projeto faz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- Lista os pré-requisitos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- Mostra como instalar e rodar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- Descreve a estrutura de pastas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- Inclui exemplos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Gerar Docstrings e README com Copilot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Dicas: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Selecione a função → </a:t>
            </a:r>
            <a:r>
              <a:rPr sz="1300" b="0">
                <a:solidFill>
                  <a:srgbClr val="4A4A4A"/>
                </a:solidFill>
                <a:latin typeface="Consolas"/>
              </a:rPr>
              <a:t>Ctrl+I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*"Adicione docstring"*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Copilot entende o contexto e gera documentação relevante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Sempre revise: a IA pode inventar detalhes incorretos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Abra aula2/demos/demo04_documentacao.py no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Organização de Projeto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Estrutura recomendada para projetos simples: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Organização de Projeto Python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3543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390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meu_projeto/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 README.md # Documentação principal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 requirements.txt # Dependências (pip freeze)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 main.py # Ponto de entrada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 dados/ # Arquivos de dados (CSV, JSON)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├── transacoes_jan.csv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├── transacoes_fev.csv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└── transacoes_mar.csv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 src/ # Código-fonte organizado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├── leitura.py # Funções de leitura de dados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├── processamento.py # Lógica de negócio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├── calculo.py # Funções de cálculo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└── relatorio.py # Geração de relatórios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 testes/ # Testes (quando houver)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└── test_calculo.py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└── saida/ # Relatórios gerados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└── relatorio.txt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Organização de Projeto Python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9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Boas práticas: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Um módulo por responsabilidade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Separar dados de código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README na raiz sempre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Não versionar dados sensíveis (use </a:t>
            </a:r>
            <a:r>
              <a:rPr sz="1300" b="0">
                <a:solidFill>
                  <a:srgbClr val="4A4A4A"/>
                </a:solidFill>
                <a:latin typeface="Consolas"/>
              </a:rPr>
              <a:t>.gitignore</a:t>
            </a:r>
            <a:r>
              <a:rPr sz="1500" b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Listar dependências no </a:t>
            </a:r>
            <a:r>
              <a:rPr sz="1300" b="0">
                <a:solidFill>
                  <a:srgbClr val="4A4A4A"/>
                </a:solidFill>
                <a:latin typeface="Consolas"/>
              </a:rPr>
              <a:t>requirements.txt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Versionamento com Git — Menção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Por que usar Git?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Histórico</a:t>
            </a:r>
            <a:r>
              <a:rPr sz="1500" b="0">
                <a:solidFill>
                  <a:srgbClr val="4A4A4A"/>
                </a:solidFill>
                <a:latin typeface="Calibri"/>
              </a:rPr>
              <a:t>: volte a qualquer versão anterior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Colaboração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trabalhe em equipe sem conflitos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Segurança</a:t>
            </a:r>
            <a:r>
              <a:rPr sz="1500" b="0">
                <a:solidFill>
                  <a:srgbClr val="4A4A4A"/>
                </a:solidFill>
                <a:latin typeface="Calibri"/>
              </a:rPr>
              <a:t>: backup do código na nuvem (GitHub)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Versionamento com Git — Menção Rápida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Comandos essenciais: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971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81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Iniciar um repositório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git init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Ver o que mudou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git status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Adicionar arquivos para commit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git add 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Salvar uma versão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git commit -m "Adiciona pipeline de consolidação de transações"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Enviar para o GitHub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git push origin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Versionamento com Git — Menção Rápida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colocar no `.gitignore`: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1447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129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Arquivos que NÃO devem ir para o repositório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__pycache__/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*.pyc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.env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dados/sensivel/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saida/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800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O Copilot pode ajudar a gerar .gitignore e mensagens de commit!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Bloco 6 — Mini Projeto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3498DB"/>
                </a:solidFill>
                <a:latin typeface="Calibri"/>
              </a:rPr>
              <a:t>Escolha Seu Cenário!</a:t>
            </a:r>
          </a:p>
          <a:p>
            <a:pPr>
              <a:spcBef>
                <a:spcPts val="100"/>
              </a:spcBef>
            </a:pPr>
            <a:endParaRPr sz="18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Opção A — Relatório Mensal de Gastos por Categoria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Ler os 3 CSVs de transações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Classificar cada transação por categoria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Gerar relatório com total gasto por categoria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Identificar a categoria com maior gasto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Bloco 6 — Mini Projeto Final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Opção B — Detector de Transações Suspeitas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Ler os 3 CSVs de transações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Definir um threshold (ex: R$ 5.000)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Listar transações acima do threshold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Gerar alerta com detalhes da transação suspeita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Opção C — Resumo Executivo para Gerente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Consolidar os 3 CSVs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Calcular: total de créditos, débitos e saldo por cliente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Identificar o cliente mais ativo e o de maior saldo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Gerar um relatório formatado em texto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Todos os cenários usam os mesmos CSVs de aula2/dados/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Metodologia: Pensar → Dividir → Pedir → Revisar → Testar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3924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377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┌──────────┐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│ PENSAR │ Entenda o problema antes de escrever código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└────┬─────┘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┌──────────┐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│ DIVIDIR │ Quebre em funções pequenas (3-5 funções)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└────┬─────┘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┌──────────┐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│ PEDIR │ Use o Copilot para cada função separadamente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└────┬─────┘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┌──────────┐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│ REVISAR │ Leia o código gerado, entenda, ajuste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└────┬─────┘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┌──────────┐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│ TESTAR │ Execute com dados reais, teste edge cases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└──────────┘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Metodologia: Pensar → Dividir → Pedir → Revisar → Testar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 de divisão (Opção A):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Metodologia: Pensar → Dividir → Pedir → Revisar → Testar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</a:t>
            </a:r>
            <a:r>
              <a:rPr sz="1300" b="0">
                <a:solidFill>
                  <a:srgbClr val="4A4A4A"/>
                </a:solidFill>
                <a:latin typeface="Consolas"/>
              </a:rPr>
              <a:t>ler_e_consolidar(arquivos)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retorna lista de transações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</a:t>
            </a:r>
            <a:r>
              <a:rPr sz="1300" b="0">
                <a:solidFill>
                  <a:srgbClr val="4A4A4A"/>
                </a:solidFill>
                <a:latin typeface="Consolas"/>
              </a:rPr>
              <a:t>classificar_transacoes(transacoes)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adiciona categorias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</a:t>
            </a:r>
            <a:r>
              <a:rPr sz="1300" b="0">
                <a:solidFill>
                  <a:srgbClr val="4A4A4A"/>
                </a:solidFill>
                <a:latin typeface="Consolas"/>
              </a:rPr>
              <a:t>calcular_por_categoria(transacoes)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retorna totais por categoria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</a:t>
            </a:r>
            <a:r>
              <a:rPr sz="1300" b="0">
                <a:solidFill>
                  <a:srgbClr val="4A4A4A"/>
                </a:solidFill>
                <a:latin typeface="Consolas"/>
              </a:rPr>
              <a:t>encontrar_maior_gasto(totais)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retorna a categoria top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5. </a:t>
            </a:r>
            <a:r>
              <a:rPr sz="1300" b="0">
                <a:solidFill>
                  <a:srgbClr val="4A4A4A"/>
                </a:solidFill>
                <a:latin typeface="Consolas"/>
              </a:rPr>
              <a:t>gerar_relatorio(totais, maior)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imprime relatório formatado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Dicas para 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Comece simples e evolua: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</a:t>
            </a:r>
            <a:r>
              <a:rPr sz="1500" b="1">
                <a:solidFill>
                  <a:srgbClr val="1B3A5C"/>
                </a:solidFill>
                <a:latin typeface="Calibri"/>
              </a:rPr>
              <a:t>Primeiro</a:t>
            </a:r>
            <a:r>
              <a:rPr sz="1500" b="0">
                <a:solidFill>
                  <a:srgbClr val="4A4A4A"/>
                </a:solidFill>
                <a:latin typeface="Calibri"/>
              </a:rPr>
              <a:t>: faça funcionar com 1 CSV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</a:t>
            </a:r>
            <a:r>
              <a:rPr sz="1500" b="1">
                <a:solidFill>
                  <a:srgbClr val="1B3A5C"/>
                </a:solidFill>
                <a:latin typeface="Calibri"/>
              </a:rPr>
              <a:t>Depois</a:t>
            </a:r>
            <a:r>
              <a:rPr sz="1500" b="0">
                <a:solidFill>
                  <a:srgbClr val="4A4A4A"/>
                </a:solidFill>
                <a:latin typeface="Calibri"/>
              </a:rPr>
              <a:t>: expanda para os 3 CSVs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</a:t>
            </a:r>
            <a:r>
              <a:rPr sz="1500" b="1">
                <a:solidFill>
                  <a:srgbClr val="1B3A5C"/>
                </a:solidFill>
                <a:latin typeface="Calibri"/>
              </a:rPr>
              <a:t>Então</a:t>
            </a:r>
            <a:r>
              <a:rPr sz="1500" b="0">
                <a:solidFill>
                  <a:srgbClr val="4A4A4A"/>
                </a:solidFill>
                <a:latin typeface="Calibri"/>
              </a:rPr>
              <a:t>: adicione classificação/cálculos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</a:t>
            </a:r>
            <a:r>
              <a:rPr sz="1500" b="1">
                <a:solidFill>
                  <a:srgbClr val="1B3A5C"/>
                </a:solidFill>
                <a:latin typeface="Calibri"/>
              </a:rPr>
              <a:t>Por fim</a:t>
            </a:r>
            <a:r>
              <a:rPr sz="1500" b="0">
                <a:solidFill>
                  <a:srgbClr val="4A4A4A"/>
                </a:solidFill>
                <a:latin typeface="Calibri"/>
              </a:rPr>
              <a:t>: gere o relatório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Dicas para o Projeto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Prompts úteis: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209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"Crie uma função que lê um CSV e retorna lista de dicionários"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"Crie uma função que classifica uma transação por categoria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baseado na descrição"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"Crie uma função que calcula o total por categoria a partir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de uma lista de transações classificadas"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"Gere um relatório formatado mostrando gastos por categoria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ordenados do maior para o menor"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Dicas para o Projeto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Se travar: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Releia o erro com calma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Use </a:t>
            </a:r>
            <a:r>
              <a:rPr sz="1300" b="0">
                <a:solidFill>
                  <a:srgbClr val="4A4A4A"/>
                </a:solidFill>
                <a:latin typeface="Consolas"/>
              </a:rPr>
              <a:t>/explain</a:t>
            </a:r>
            <a:r>
              <a:rPr sz="1500" b="0">
                <a:solidFill>
                  <a:srgbClr val="4A4A4A"/>
                </a:solidFill>
                <a:latin typeface="Calibri"/>
              </a:rPr>
              <a:t> no código que não entendeu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Use </a:t>
            </a:r>
            <a:r>
              <a:rPr sz="1300" b="0">
                <a:solidFill>
                  <a:srgbClr val="4A4A4A"/>
                </a:solidFill>
                <a:latin typeface="Consolas"/>
              </a:rPr>
              <a:t>/fix</a:t>
            </a:r>
            <a:r>
              <a:rPr sz="1500" b="0">
                <a:solidFill>
                  <a:srgbClr val="4A4A4A"/>
                </a:solidFill>
                <a:latin typeface="Calibri"/>
              </a:rPr>
              <a:t> se tiver um bug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Peça ajuda ao instrutor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Checklist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Antes de considerar seu projeto pronto, verifique: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Funcionalidade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Lê os 3 arquivos CSV corretamente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Processa os dados sem erros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Gera o resultado esperado (relatório/alerta/resumo)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Funciona mesmo com dados inesperados (tratamento de erros)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Checklist de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Qualidade do Código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Código organizado em funções (mínimo 3 funções)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Nomes de variáveis e funções descritivos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Pelo menos uma docstring no código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Sem código comentado/morto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Boas Práticas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Usa </a:t>
            </a:r>
            <a:r>
              <a:rPr sz="1300" b="0">
                <a:solidFill>
                  <a:srgbClr val="4A4A4A"/>
                </a:solidFill>
                <a:latin typeface="Consolas"/>
              </a:rPr>
              <a:t>with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abrir arquivos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Usa </a:t>
            </a:r>
            <a:r>
              <a:rPr sz="1300" b="0">
                <a:solidFill>
                  <a:srgbClr val="4A4A4A"/>
                </a:solidFill>
                <a:latin typeface="Consolas"/>
              </a:rPr>
              <a:t>csv.DictReader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ler CSVs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Trata pelo menos um tipo de exceção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 ] Código roda sem modificações (caminho dos arquivos correto)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Bônus: salvar o relatório em arquivo .txt ou 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Mãos à Obra!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Tempo: 40 minutos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Instruções: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Escolha um cenário (A, B ou C)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Crie um novo arquivo em </a:t>
            </a:r>
            <a:r>
              <a:rPr sz="1300" b="0">
                <a:solidFill>
                  <a:srgbClr val="4A4A4A"/>
                </a:solidFill>
                <a:latin typeface="Consolas"/>
              </a:rPr>
              <a:t>aula2/labs/</a:t>
            </a:r>
            <a:r>
              <a:rPr sz="1500" b="0">
                <a:solidFill>
                  <a:srgbClr val="4A4A4A"/>
                </a:solidFill>
                <a:latin typeface="Calibri"/>
              </a:rPr>
              <a:t> (ex: </a:t>
            </a:r>
            <a:r>
              <a:rPr sz="1300" b="0">
                <a:solidFill>
                  <a:srgbClr val="4A4A4A"/>
                </a:solidFill>
                <a:latin typeface="Consolas"/>
              </a:rPr>
              <a:t>projeto_opcaoA.py</a:t>
            </a:r>
            <a:r>
              <a:rPr sz="1500" b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Use a metodologia: Pensar → Dividir → Pedir → Revisar → Testar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Use os CSVs de </a:t>
            </a:r>
            <a:r>
              <a:rPr sz="1300" b="0">
                <a:solidFill>
                  <a:srgbClr val="4A4A4A"/>
                </a:solidFill>
                <a:latin typeface="Consolas"/>
              </a:rPr>
              <a:t>aula2/dados/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5. Confira o checklist antes de finalizar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Mãos à Obra!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Estrutura sugerida do arquivo: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Mãos à Obra!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480" y="1630680"/>
            <a:ext cx="10576560" cy="35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Mini Projeto Final — Opção [A/B/C]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Curso: Desenvolvimento Rápido com Soluções de IA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--- Funções de Leitura ---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... suas funções aqui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--- Funções de Processamento ---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... suas funções aqui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--- Funções de Relatório ---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... suas funções aqui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--- Execução Principal ---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if __name__ == "__main__":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# Orquestrar o pipeline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Mãos à Obra!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O instrutor estará disponível para ajudar!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Recap Completo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3498DB"/>
                </a:solidFill>
                <a:latin typeface="Calibri"/>
              </a:rPr>
              <a:t>Aula 1 — Fundamentos e Primeiros Passos</a:t>
            </a:r>
          </a:p>
          <a:p>
            <a:pPr>
              <a:spcBef>
                <a:spcPts val="100"/>
              </a:spcBef>
            </a:pPr>
            <a:endParaRPr sz="18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O que é IA generativa e como funcionam LLMs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Panorama de ferramentas (Copilot, ChatGPT, Cursor...)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GitHub Copilot: instalação, configuração, primeiros prompts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Python básico: variáveis, funções, listas, dicionários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Leitura de CSVs e manipulação de dados bancários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Recap Completo do Curso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3498DB"/>
                </a:solidFill>
                <a:latin typeface="Calibri"/>
              </a:rPr>
              <a:t>Aula 2 — Produtividade e Projeto Final</a:t>
            </a:r>
          </a:p>
          <a:p>
            <a:pPr>
              <a:spcBef>
                <a:spcPts val="100"/>
              </a:spcBef>
            </a:pPr>
            <a:endParaRPr sz="18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Ciclo de desenvolvimento com IA (Ideação → Iteração)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Estratégias para usar Copilot Free de forma eficiente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Refatoração: código espaguete → código modular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Debugging assistido: </a:t>
            </a:r>
            <a:r>
              <a:rPr sz="1400" b="0">
                <a:solidFill>
                  <a:srgbClr val="4A4A4A"/>
                </a:solidFill>
                <a:latin typeface="Consolas"/>
              </a:rPr>
              <a:t>/explain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/fix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/tests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Pipeline de dados: ler → consolidar → classificar → calcular → reportar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Documentação: docstrings, README, organização de projeto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Mini projeto: aplicação prática de tudo que aprendemos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Vocês saíram de "o que é IA?" para "construí um pipeline de dados com IA"!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Próximos Passos — Como Continuar Aprendendo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Curto prazo (próximas semanas):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Refaça os exercícios sem olhar o material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Crie um mini projeto pessoal usando Copilot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Explore a documentação oficial do Python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Médio prazo (próximos meses):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Aprenda bibliotecas: </a:t>
            </a:r>
            <a:r>
              <a:rPr sz="1500" b="1">
                <a:solidFill>
                  <a:srgbClr val="1B3A5C"/>
                </a:solidFill>
                <a:latin typeface="Calibri"/>
              </a:rPr>
              <a:t>Pandas</a:t>
            </a:r>
            <a:r>
              <a:rPr sz="1500" b="0">
                <a:solidFill>
                  <a:srgbClr val="4A4A4A"/>
                </a:solidFill>
                <a:latin typeface="Calibri"/>
              </a:rPr>
              <a:t> (dados), </a:t>
            </a:r>
            <a:r>
              <a:rPr sz="1500" b="1">
                <a:solidFill>
                  <a:srgbClr val="1B3A5C"/>
                </a:solidFill>
                <a:latin typeface="Calibri"/>
              </a:rPr>
              <a:t>Flask</a:t>
            </a:r>
            <a:r>
              <a:rPr sz="1500" b="0">
                <a:solidFill>
                  <a:srgbClr val="4A4A4A"/>
                </a:solidFill>
                <a:latin typeface="Calibri"/>
              </a:rPr>
              <a:t> (web), </a:t>
            </a:r>
            <a:r>
              <a:rPr sz="1500" b="1">
                <a:solidFill>
                  <a:srgbClr val="1B3A5C"/>
                </a:solidFill>
                <a:latin typeface="Calibri"/>
              </a:rPr>
              <a:t>Pytest</a:t>
            </a:r>
            <a:r>
              <a:rPr sz="1500" b="0">
                <a:solidFill>
                  <a:srgbClr val="4A4A4A"/>
                </a:solidFill>
                <a:latin typeface="Calibri"/>
              </a:rPr>
              <a:t> (testes)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Explore outras IAs: ChatGPT para planejamento, Cursor para projetos maiores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Aprofunde em </a:t>
            </a:r>
            <a:r>
              <a:rPr sz="1500" b="1">
                <a:solidFill>
                  <a:srgbClr val="1B3A5C"/>
                </a:solidFill>
                <a:latin typeface="Calibri"/>
              </a:rPr>
              <a:t>Git e GitHub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essencial para qualquer desenvolvedor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Próximos Passos — Como Continuar Aprendendo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Longo prazo (próximo ano):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Participe de projetos open source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Explore áreas: automação, APIs, ciência de dados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Faça cursos complementares (FreeCodeCamp, roadmap.sh)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A melhor forma de aprender é construindo projetos reais.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Recursos e Links Úteis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GitHub Copilot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[Documentação Oficial](https://docs.github.com/pt/copilot) — Guia completo em PT-BR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[Plano Free](https://docs.github.com/pt/copilot/about-github-copilot/subscription-plans-for-github-copilot) — O que está incluso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[Dicas de Uso](https://docs.github.com/pt/copilot/getting-started) — Boas práticas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Python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[Tutorial Oficial (PT-BR)](https://docs.python.org/pt-br/3/tutorial/index.html)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[Python Cheatsheet](https://www.pythoncheatsheet.org/) — Referência rápida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[Documentação do módulo csv](https://docs.python.org/pt-br/3/library/csv.html)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Recursos e Links Úteis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Aprendizado Contínuo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[GitHub Skills](https://skills.github.com/) — Cursos interativos gratuitos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[FreeCodeCamp](https://www.freecodecamp.org/) — Trilhas completas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[Roadmap.sh — Python](https://roadmap.sh/python) — Caminho de aprendizado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[Prompt Engineering Guide](https://www.promptingguide.ai/pt) — Em português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1120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 dirty="0" err="1">
                <a:solidFill>
                  <a:srgbClr val="1B3A5C"/>
                </a:solidFill>
                <a:latin typeface="Calibri"/>
              </a:rPr>
              <a:t>Referência</a:t>
            </a:r>
            <a:r>
              <a:rPr sz="1500" b="1" dirty="0">
                <a:solidFill>
                  <a:srgbClr val="1B3A5C"/>
                </a:solidFill>
                <a:latin typeface="Calibri"/>
              </a:rPr>
              <a:t> Completa</a:t>
            </a:r>
          </a:p>
          <a:p>
            <a:pPr>
              <a:spcBef>
                <a:spcPts val="200"/>
              </a:spcBef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</a:t>
            </a:r>
            <a:r>
              <a:rPr lang="en-US" sz="1600" dirty="0" err="1">
                <a:hlinkClick r:id="rId2"/>
              </a:rPr>
              <a:t>lcarli</a:t>
            </a:r>
            <a:r>
              <a:rPr lang="en-US" sz="1600" dirty="0">
                <a:hlinkClick r:id="rId2"/>
              </a:rPr>
              <a:t>/Copilot-</a:t>
            </a:r>
            <a:r>
              <a:rPr lang="en-US" sz="1600" dirty="0" err="1">
                <a:hlinkClick r:id="rId2"/>
              </a:rPr>
              <a:t>MiniAulas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5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 dirty="0">
                <a:solidFill>
                  <a:srgbClr val="3498DB"/>
                </a:solidFill>
                <a:latin typeface="Calibri"/>
              </a:rPr>
              <a:t>❝ </a:t>
            </a:r>
            <a:r>
              <a:rPr sz="1300" b="0" i="1" dirty="0" err="1">
                <a:solidFill>
                  <a:srgbClr val="3498DB"/>
                </a:solidFill>
                <a:latin typeface="Calibri"/>
              </a:rPr>
              <a:t>Obrigado</a:t>
            </a:r>
            <a:r>
              <a:rPr sz="13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3498DB"/>
                </a:solidFill>
                <a:latin typeface="Calibri"/>
              </a:rPr>
              <a:t>por</a:t>
            </a:r>
            <a:r>
              <a:rPr sz="13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3498DB"/>
                </a:solidFill>
                <a:latin typeface="Calibri"/>
              </a:rPr>
              <a:t>participar</a:t>
            </a:r>
            <a:r>
              <a:rPr sz="1300" b="0" i="1" dirty="0">
                <a:solidFill>
                  <a:srgbClr val="3498DB"/>
                </a:solidFill>
                <a:latin typeface="Calibri"/>
              </a:rPr>
              <a:t>! Bom </a:t>
            </a:r>
            <a:r>
              <a:rPr sz="1300" b="0" i="1" dirty="0" err="1">
                <a:solidFill>
                  <a:srgbClr val="3498DB"/>
                </a:solidFill>
                <a:latin typeface="Calibri"/>
              </a:rPr>
              <a:t>aprendizado</a:t>
            </a:r>
            <a:r>
              <a:rPr sz="1300" b="0" i="1" dirty="0">
                <a:solidFill>
                  <a:srgbClr val="3498DB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8247</Words>
  <Application>Microsoft Office PowerPoint</Application>
  <PresentationFormat>Widescreen</PresentationFormat>
  <Paragraphs>1198</Paragraphs>
  <Slides>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de Carli Humenhuk</cp:lastModifiedBy>
  <cp:revision>12</cp:revision>
  <dcterms:created xsi:type="dcterms:W3CDTF">2013-01-27T09:14:16Z</dcterms:created>
  <dcterms:modified xsi:type="dcterms:W3CDTF">2026-04-01T11:46:32Z</dcterms:modified>
  <cp:category/>
</cp:coreProperties>
</file>